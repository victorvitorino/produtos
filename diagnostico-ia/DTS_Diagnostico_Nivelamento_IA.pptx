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33 convidados, 29 iniciaram e 25 concluíram o caderno. Índice consolidado médio de 78,6 (faixa Autonomia), com 10 pessoas já em Multiplicação. O time declarou 64,7 mas demonstrou 84,6: 21 de 25 se subestimam.</a:t>
            </a:r>
          </a:p>
          <a:p/>
          <a:p>
            <a:r>
              <a:t>— Conteúdo da página —</a:t>
            </a:r>
          </a:p>
          <a:p>
            <a:r>
              <a:t>DIGITAL &amp; TECHNOLOGY SERVICES</a:t>
            </a:r>
          </a:p>
          <a:p>
            <a:r>
              <a:t>01</a:t>
            </a:r>
          </a:p>
          <a:p>
            <a:r>
              <a:t>Onde estamos</a:t>
            </a:r>
          </a:p>
          <a:p>
            <a:r>
              <a:t>O Caderno de Nivelamento cruzou o que cada pessoa diz fazer com IA com o que ela demonstra em 7 brincadeiras. Este é o retrato do time.</a:t>
            </a:r>
          </a:p>
          <a:p>
            <a:r>
              <a:t>“O time já opera em Autonomia, mas ainda se enxerga em Evolução.”</a:t>
            </a:r>
          </a:p>
          <a:p>
            <a:r>
              <a:t>CADERNO DTS · OUT 2026 · N = 25</a:t>
            </a:r>
          </a:p>
          <a:p>
            <a:r>
              <a:t>ADOÇÃO DO CADERNO</a:t>
            </a:r>
          </a:p>
          <a:p>
            <a:r>
              <a:t>CONVIDADOS</a:t>
            </a:r>
          </a:p>
          <a:p>
            <a:r>
              <a:t>33</a:t>
            </a:r>
          </a:p>
          <a:p>
            <a:r>
              <a:t>Encontro com a Galera · DTS</a:t>
            </a:r>
          </a:p>
          <a:p>
            <a:r>
              <a:t>INICIARAM</a:t>
            </a:r>
          </a:p>
          <a:p>
            <a:r>
              <a:t>29 88%</a:t>
            </a:r>
          </a:p>
          <a:p>
            <a:r>
              <a:t>abriram e responderam ao menos 1 página</a:t>
            </a:r>
          </a:p>
          <a:p>
            <a:r>
              <a:t>CONCLUÍRAM</a:t>
            </a:r>
          </a:p>
          <a:p>
            <a:r>
              <a:t>25 76%</a:t>
            </a:r>
          </a:p>
          <a:p>
            <a:r>
              <a:t>fizeram as 7 páginas (86% de quem começou)</a:t>
            </a:r>
          </a:p>
          <a:p>
            <a:r>
              <a:t>TEMPO MEDIANO</a:t>
            </a:r>
          </a:p>
          <a:p>
            <a:r>
              <a:t>12 min</a:t>
            </a:r>
          </a:p>
          <a:p>
            <a:r>
              <a:t>entre quem fez de uma vez (previsto: 6 min)</a:t>
            </a:r>
          </a:p>
          <a:p>
            <a:r>
              <a:t>ÍNDICE CONSOLIDADO</a:t>
            </a:r>
          </a:p>
          <a:p>
            <a:r>
              <a:t>78,6</a:t>
            </a:r>
          </a:p>
          <a:p>
            <a:r>
              <a:t>30% declarado + 70% demonstrado · faixa Autonomia</a:t>
            </a:r>
          </a:p>
          <a:p>
            <a:r>
              <a:t>FUNIL DE ADOÇÃO</a:t>
            </a:r>
          </a:p>
          <a:p>
            <a:r>
              <a:t>Convidados</a:t>
            </a:r>
          </a:p>
          <a:p>
            <a:r>
              <a:t>33</a:t>
            </a:r>
          </a:p>
          <a:p>
            <a:r>
              <a:t>100%</a:t>
            </a:r>
          </a:p>
          <a:p>
            <a:r>
              <a:t>Aceitaram convite</a:t>
            </a:r>
          </a:p>
          <a:p>
            <a:r>
              <a:t>18</a:t>
            </a:r>
          </a:p>
          <a:p>
            <a:r>
              <a:t>55%</a:t>
            </a:r>
          </a:p>
          <a:p>
            <a:r>
              <a:t>Iniciaram caderno</a:t>
            </a:r>
          </a:p>
          <a:p>
            <a:r>
              <a:t>29</a:t>
            </a:r>
          </a:p>
          <a:p>
            <a:r>
              <a:t>88%</a:t>
            </a:r>
          </a:p>
          <a:p>
            <a:r>
              <a:t>Concluíram</a:t>
            </a:r>
          </a:p>
          <a:p>
            <a:r>
              <a:t>25</a:t>
            </a:r>
          </a:p>
          <a:p>
            <a:r>
              <a:t>76%</a:t>
            </a:r>
          </a:p>
          <a:p>
            <a:r>
              <a:t>4</a:t>
            </a:r>
          </a:p>
          <a:p>
            <a:r>
              <a:t>pararam no meio</a:t>
            </a:r>
          </a:p>
          <a:p>
            <a:r>
              <a:t>(2 delas na pág. 6 de 7)</a:t>
            </a:r>
          </a:p>
          <a:p>
            <a:r>
              <a:t>4</a:t>
            </a:r>
          </a:p>
          <a:p>
            <a:r>
              <a:t>ainda não abriram</a:t>
            </a:r>
          </a:p>
          <a:p>
            <a:r>
              <a:t>o caderno</a:t>
            </a:r>
          </a:p>
          <a:p>
            <a:r>
              <a:t>11/13</a:t>
            </a:r>
          </a:p>
          <a:p>
            <a:r>
              <a:t>que nem responderam o convite… concluíram</a:t>
            </a:r>
          </a:p>
          <a:p>
            <a:r>
              <a:t>DISTRIBUIÇÃO POR FAIXA · COMO SE VEEM × COMO OPERAM</a:t>
            </a:r>
          </a:p>
          <a:p>
            <a:r>
              <a:t>0</a:t>
            </a:r>
          </a:p>
          <a:p>
            <a:r>
              <a:t>0</a:t>
            </a:r>
          </a:p>
          <a:p>
            <a:r>
              <a:t>PONTO DE PARTIDA</a:t>
            </a:r>
          </a:p>
          <a:p>
            <a:r>
              <a:t>0–20</a:t>
            </a:r>
          </a:p>
          <a:p>
            <a:r>
              <a:t>4</a:t>
            </a:r>
          </a:p>
          <a:p>
            <a:r>
              <a:t>0</a:t>
            </a:r>
          </a:p>
          <a:p>
            <a:r>
              <a:t>EXPLORAÇÃO</a:t>
            </a:r>
          </a:p>
          <a:p>
            <a:r>
              <a:t>21–40</a:t>
            </a:r>
          </a:p>
          <a:p>
            <a:r>
              <a:t>7</a:t>
            </a:r>
          </a:p>
          <a:p>
            <a:r>
              <a:t>1</a:t>
            </a:r>
          </a:p>
          <a:p>
            <a:r>
              <a:t>EVOLUÇÃO</a:t>
            </a:r>
          </a:p>
          <a:p>
            <a:r>
              <a:t>41–60</a:t>
            </a:r>
          </a:p>
          <a:p>
            <a:r>
              <a:t>7</a:t>
            </a:r>
          </a:p>
          <a:p>
            <a:r>
              <a:t>14</a:t>
            </a:r>
          </a:p>
          <a:p>
            <a:r>
              <a:t>AUTONOMIA</a:t>
            </a:r>
          </a:p>
          <a:p>
            <a:r>
              <a:t>61–80</a:t>
            </a:r>
          </a:p>
          <a:p>
            <a:r>
              <a:t>7</a:t>
            </a:r>
          </a:p>
          <a:p>
            <a:r>
              <a:t>10</a:t>
            </a:r>
          </a:p>
          <a:p>
            <a:r>
              <a:t>MULTIPLICAÇÃO</a:t>
            </a:r>
          </a:p>
          <a:p>
            <a:r>
              <a:t>81–100</a:t>
            </a:r>
          </a:p>
          <a:p>
            <a:r>
              <a:t>Faixa declarada (autopercepção)</a:t>
            </a:r>
          </a:p>
          <a:p>
            <a:r>
              <a:t>Faixa pelo índice consolidado</a:t>
            </a:r>
          </a:p>
          <a:p>
            <a:r>
              <a:t>Achado nº 1</a:t>
            </a:r>
          </a:p>
          <a:p>
            <a:r>
              <a:t>21 de 25 pessoas demonstraram mais do que declararam. Distância média: +20 pontos (64,7 → 84,6).</a:t>
            </a:r>
          </a:p>
          <a:p>
            <a:r>
              <a:t>Leitura: o problema não é saber usar. É confiança, método e escala.</a:t>
            </a:r>
          </a:p>
          <a:p>
            <a:r>
              <a:t>TERMÔMETRO DO TIME · ÍNDICE CONSOLIDADO DE CADA PESSOA (ANÔNIMO)</a:t>
            </a:r>
          </a:p>
          <a:p>
            <a:r>
              <a:t>PONTO DE PARTIDA</a:t>
            </a:r>
          </a:p>
          <a:p>
            <a:r>
              <a:t>EXPLORAÇÃO</a:t>
            </a:r>
          </a:p>
          <a:p>
            <a:r>
              <a:t>EVOLUÇÃO</a:t>
            </a:r>
          </a:p>
          <a:p>
            <a:r>
              <a:t>AUTONOMIA</a:t>
            </a:r>
          </a:p>
          <a:p>
            <a:r>
              <a:t>MULTIPLICAÇÃO</a:t>
            </a:r>
          </a:p>
          <a:p>
            <a:r>
              <a:t>média 78,6</a:t>
            </a:r>
          </a:p>
          <a:p>
            <a:r>
              <a:t>meta 85</a:t>
            </a:r>
          </a:p>
          <a:p>
            <a:r>
              <a:t>0</a:t>
            </a:r>
          </a:p>
          <a:p>
            <a:r>
              <a:t>20</a:t>
            </a:r>
          </a:p>
          <a:p>
            <a:r>
              <a:t>40</a:t>
            </a:r>
          </a:p>
          <a:p>
            <a:r>
              <a:t>60</a:t>
            </a:r>
          </a:p>
          <a:p>
            <a:r>
              <a:t>80</a:t>
            </a:r>
          </a:p>
          <a:p>
            <a:r>
              <a:t>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dimensão: Skills &amp; Métodos (96,9) e reutilização (88) são os pontos fortes demonstrados. O gargalo é a maturidade agêntica (52,2). FLOWS e Métodos são os itens de menor uso declarado. No retrato falado, quem reescreveu o prompt subiu de 63 para 87 pontos.</a:t>
            </a:r>
          </a:p>
          <a:p/>
          <a:p>
            <a:r>
              <a:t>— Conteúdo da página —</a:t>
            </a:r>
          </a:p>
          <a:p>
            <a:r>
              <a:t>DIGITAL &amp; TECHNOLOGY SERVICES</a:t>
            </a:r>
          </a:p>
          <a:p>
            <a:r>
              <a:t>02</a:t>
            </a:r>
          </a:p>
          <a:p>
            <a:r>
              <a:t>O que o caderno revelou</a:t>
            </a:r>
          </a:p>
          <a:p>
            <a:r>
              <a:t>8 dimensões de maturidade, 6 perguntas de uso e 5 brincadeiras de demonstração. Os pontos fortes estão claros e há um gargalo bem definido.</a:t>
            </a:r>
          </a:p>
          <a:p>
            <a:r>
              <a:t>“Sabemos pedir. Ainda não sabemos delegar para agentes.”</a:t>
            </a:r>
          </a:p>
          <a:p>
            <a:r>
              <a:t>FONTE · REGISTROS DO CADERNO (25 CONCLUÍDOS)</a:t>
            </a:r>
          </a:p>
          <a:p>
            <a:r>
              <a:t>Forte em Skills, Prompt e reutilização. O gargalo é a maturidade agêntica (52): o próximo salto de produtividade.</a:t>
            </a:r>
          </a:p>
          <a:p>
            <a:r>
              <a:t>MATURIDADE POR DIMENSÃO (0–100)</a:t>
            </a:r>
          </a:p>
          <a:p>
            <a:r>
              <a:t>Skills &amp; Métodos</a:t>
            </a:r>
          </a:p>
          <a:p>
            <a:r>
              <a:t>96,9</a:t>
            </a:r>
          </a:p>
          <a:p>
            <a:r>
              <a:t>Reutilização</a:t>
            </a:r>
          </a:p>
          <a:p>
            <a:r>
              <a:t>88,0</a:t>
            </a:r>
          </a:p>
          <a:p>
            <a:r>
              <a:t>Prompt &amp; Contexto</a:t>
            </a:r>
          </a:p>
          <a:p>
            <a:r>
              <a:t>87,2</a:t>
            </a:r>
          </a:p>
          <a:p>
            <a:r>
              <a:t>Fluxo de trabalho</a:t>
            </a:r>
          </a:p>
          <a:p>
            <a:r>
              <a:t>81,9</a:t>
            </a:r>
          </a:p>
          <a:p>
            <a:r>
              <a:t>Criação &amp; compartilhamento</a:t>
            </a:r>
          </a:p>
          <a:p>
            <a:r>
              <a:t>81,2</a:t>
            </a:r>
          </a:p>
          <a:p>
            <a:r>
              <a:t>Compreensão semântica</a:t>
            </a:r>
          </a:p>
          <a:p>
            <a:r>
              <a:t>78,3</a:t>
            </a:r>
          </a:p>
          <a:p>
            <a:r>
              <a:t>Uso do ecossistema</a:t>
            </a:r>
          </a:p>
          <a:p>
            <a:r>
              <a:t>72,7</a:t>
            </a:r>
          </a:p>
          <a:p>
            <a:r>
              <a:t>Maturidade agêntica</a:t>
            </a:r>
          </a:p>
          <a:p>
            <a:r>
              <a:t>52,2</a:t>
            </a:r>
          </a:p>
          <a:p>
            <a:r>
              <a:t>Declarado</a:t>
            </a:r>
          </a:p>
          <a:p>
            <a:r>
              <a:t>Demonstrado</a:t>
            </a:r>
          </a:p>
          <a:p>
            <a:r>
              <a:t>Gargalo</a:t>
            </a:r>
          </a:p>
          <a:p>
            <a:r>
              <a:t>linhas: limites das 5 faixas</a:t>
            </a:r>
          </a:p>
          <a:p>
            <a:r>
              <a:t>P07 · RETRATO FALADO · ESTRUTURA DO PROMPT (17 QUE REESCREVERAM)</a:t>
            </a:r>
          </a:p>
          <a:p>
            <a:r>
              <a:t>1º rascunho</a:t>
            </a:r>
          </a:p>
          <a:p>
            <a:r>
              <a:t>63</a:t>
            </a:r>
          </a:p>
          <a:p>
            <a:r>
              <a:t>2º rascunho</a:t>
            </a:r>
          </a:p>
          <a:p>
            <a:r>
              <a:t>87</a:t>
            </a:r>
          </a:p>
          <a:p>
            <a:r>
              <a:t>O que mais faltava no 1º rascunho: contexto/uso da imagem e resultado esperado (formato, enquadramento).</a:t>
            </a:r>
          </a:p>
          <a:p>
            <a:r>
              <a:t>PÁGINA 01 · USO DECLARADO (Nº DE PESSOAS POR NÍVEL)</a:t>
            </a:r>
          </a:p>
          <a:p>
            <a:r>
              <a:t>NÍVEL 0</a:t>
            </a:r>
          </a:p>
          <a:p>
            <a:r>
              <a:t>NÍVEL 1</a:t>
            </a:r>
          </a:p>
          <a:p>
            <a:r>
              <a:t>NÍVEL 2</a:t>
            </a:r>
          </a:p>
          <a:p>
            <a:r>
              <a:t>NÍVEL 3</a:t>
            </a:r>
          </a:p>
          <a:p>
            <a:r>
              <a:t>ÍNDICE</a:t>
            </a:r>
          </a:p>
          <a:p>
            <a:r>
              <a:t>Claude Desktop</a:t>
            </a:r>
          </a:p>
          <a:p>
            <a:r>
              <a:t>0</a:t>
            </a:r>
          </a:p>
          <a:p>
            <a:r>
              <a:t>1</a:t>
            </a:r>
          </a:p>
          <a:p>
            <a:r>
              <a:t>7</a:t>
            </a:r>
          </a:p>
          <a:p>
            <a:r>
              <a:t>17</a:t>
            </a:r>
          </a:p>
          <a:p>
            <a:r>
              <a:t>88</a:t>
            </a:r>
          </a:p>
          <a:p>
            <a:r>
              <a:t>Skills</a:t>
            </a:r>
          </a:p>
          <a:p>
            <a:r>
              <a:t>1</a:t>
            </a:r>
          </a:p>
          <a:p>
            <a:r>
              <a:t>5</a:t>
            </a:r>
          </a:p>
          <a:p>
            <a:r>
              <a:t>6</a:t>
            </a:r>
          </a:p>
          <a:p>
            <a:r>
              <a:t>13</a:t>
            </a:r>
          </a:p>
          <a:p>
            <a:r>
              <a:t>75</a:t>
            </a:r>
          </a:p>
          <a:p>
            <a:r>
              <a:t>Reutilização</a:t>
            </a:r>
          </a:p>
          <a:p>
            <a:r>
              <a:t>0</a:t>
            </a:r>
          </a:p>
          <a:p>
            <a:r>
              <a:t>5</a:t>
            </a:r>
          </a:p>
          <a:p>
            <a:r>
              <a:t>14</a:t>
            </a:r>
          </a:p>
          <a:p>
            <a:r>
              <a:t>6</a:t>
            </a:r>
          </a:p>
          <a:p>
            <a:r>
              <a:t>68</a:t>
            </a:r>
          </a:p>
          <a:p>
            <a:r>
              <a:t>Compartilhamento</a:t>
            </a:r>
          </a:p>
          <a:p>
            <a:r>
              <a:t>4</a:t>
            </a:r>
          </a:p>
          <a:p>
            <a:r>
              <a:t>4</a:t>
            </a:r>
          </a:p>
          <a:p>
            <a:r>
              <a:t>4</a:t>
            </a:r>
          </a:p>
          <a:p>
            <a:r>
              <a:t>13</a:t>
            </a:r>
          </a:p>
          <a:p>
            <a:r>
              <a:t>68</a:t>
            </a:r>
          </a:p>
          <a:p>
            <a:r>
              <a:t>FLOWS</a:t>
            </a:r>
          </a:p>
          <a:p>
            <a:r>
              <a:t>2</a:t>
            </a:r>
          </a:p>
          <a:p>
            <a:r>
              <a:t>5</a:t>
            </a:r>
          </a:p>
          <a:p>
            <a:r>
              <a:t>16</a:t>
            </a:r>
          </a:p>
          <a:p>
            <a:r>
              <a:t>2</a:t>
            </a:r>
          </a:p>
          <a:p>
            <a:r>
              <a:t>57</a:t>
            </a:r>
          </a:p>
          <a:p>
            <a:r>
              <a:t>Métodos</a:t>
            </a:r>
          </a:p>
          <a:p>
            <a:r>
              <a:t>6</a:t>
            </a:r>
          </a:p>
          <a:p>
            <a:r>
              <a:t>7</a:t>
            </a:r>
          </a:p>
          <a:p>
            <a:r>
              <a:t>6</a:t>
            </a:r>
          </a:p>
          <a:p>
            <a:r>
              <a:t>6</a:t>
            </a:r>
          </a:p>
          <a:p>
            <a:r>
              <a:t>49</a:t>
            </a:r>
          </a:p>
          <a:p>
            <a:r>
              <a:t>0 = não uso · 1 = conheço · 2 = uso às vezes · 3 = uso com autonomia/compartilho</a:t>
            </a:r>
          </a:p>
          <a:p>
            <a:r>
              <a:t>P04 · CAMINHO DE TRABALHO</a:t>
            </a:r>
          </a:p>
          <a:p>
            <a:r>
              <a:t>C · FLOWS → verificar → adaptar</a:t>
            </a:r>
          </a:p>
          <a:p>
            <a:r>
              <a:t>18</a:t>
            </a:r>
          </a:p>
          <a:p>
            <a:r>
              <a:t>A · Claude direto → ajustes</a:t>
            </a:r>
          </a:p>
          <a:p>
            <a:r>
              <a:t>5</a:t>
            </a:r>
          </a:p>
          <a:p>
            <a:r>
              <a:t>B · arquivo antigo → adaptar</a:t>
            </a:r>
          </a:p>
          <a:p>
            <a:r>
              <a:t>1</a:t>
            </a:r>
          </a:p>
          <a:p>
            <a:r>
              <a:t>D · Método → Skill → Agente</a:t>
            </a:r>
          </a:p>
          <a:p>
            <a:r>
              <a:t>1</a:t>
            </a:r>
          </a:p>
          <a:p>
            <a:r>
              <a:t>P06 · PEÇAS DO PROMPT MAIS ESCOLHIDAS</a:t>
            </a:r>
          </a:p>
          <a:p>
            <a:r>
              <a:t>Contexto</a:t>
            </a:r>
          </a:p>
          <a:p>
            <a:r>
              <a:t>21</a:t>
            </a:r>
          </a:p>
          <a:p>
            <a:r>
              <a:t>Objetivo</a:t>
            </a:r>
          </a:p>
          <a:p>
            <a:r>
              <a:t>16</a:t>
            </a:r>
          </a:p>
          <a:p>
            <a:r>
              <a:t>Público</a:t>
            </a:r>
          </a:p>
          <a:p>
            <a:r>
              <a:t>14</a:t>
            </a:r>
          </a:p>
          <a:p>
            <a:r>
              <a:t>Formato de saída</a:t>
            </a:r>
          </a:p>
          <a:p>
            <a:r>
              <a:t>11</a:t>
            </a:r>
          </a:p>
          <a:p>
            <a:r>
              <a:t>Referências</a:t>
            </a:r>
          </a:p>
          <a:p>
            <a:r>
              <a:t>11</a:t>
            </a:r>
          </a:p>
          <a:p>
            <a:r>
              <a:t>Métodos é o elo fraco do uso</a:t>
            </a:r>
          </a:p>
          <a:p>
            <a:r>
              <a:t>13 de 25 usam pouco ou nada de Métodos (índice 49). FLOWS tem uso mediano (57). A base existe, mas o hábito ainda não.</a:t>
            </a:r>
          </a:p>
          <a:p>
            <a:r>
              <a:t>72% passam pelo FLOWS antes, só 4% orquestram</a:t>
            </a:r>
          </a:p>
          <a:p>
            <a:r>
              <a:t>18 pessoas verificam o FLOWS e adaptam. Só 1 encadeia Método → Skill → Agente. Ainda é reuso, não automação.</a:t>
            </a:r>
          </a:p>
          <a:p>
            <a:r>
              <a:t>Aprendem no ato: +24 pontos</a:t>
            </a:r>
          </a:p>
          <a:p>
            <a:r>
              <a:t>17 pessoas reescreveram o prompt do retrato falado. A estrutura subiu de 63 para 87. Basta um empurrão com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Meta em 90 dias: índice consolidado de 78,6 para 85 (Multiplicação), maturidade agêntica de 52 para 70, conclusão de 76% para 100% e 10 multiplicadores formalizados. Três ondas: Ativar, Aprofundar e Multiplicar, com 6 treinamentos específicos.</a:t>
            </a:r>
          </a:p>
          <a:p/>
          <a:p>
            <a:r>
              <a:t>— Conteúdo da página —</a:t>
            </a:r>
          </a:p>
          <a:p>
            <a:r>
              <a:t>DIGITAL &amp; TECHNOLOGY SERVICES</a:t>
            </a:r>
          </a:p>
          <a:p>
            <a:r>
              <a:t>03</a:t>
            </a:r>
          </a:p>
          <a:p>
            <a:r>
              <a:t>Para onde vamos</a:t>
            </a:r>
          </a:p>
          <a:p>
            <a:r>
              <a:t>Sair de Autonomia para Multiplicação em 90 dias. Menos curso genérico e mais prática no trabalho real, com os 10 multiplicadores à frente.</a:t>
            </a:r>
          </a:p>
          <a:p>
            <a:r>
              <a:t>“De usuários de IA para construtores de Skills e agentes.”</a:t>
            </a:r>
          </a:p>
          <a:p>
            <a:r>
              <a:t>HORIZONTE · NOV 2026 → JAN 2027</a:t>
            </a:r>
          </a:p>
          <a:p>
            <a:r>
              <a:t>A META · 90 DIAS</a:t>
            </a:r>
          </a:p>
          <a:p>
            <a:r>
              <a:t>ÍNDICE CONSOLIDADO</a:t>
            </a:r>
          </a:p>
          <a:p>
            <a:r>
              <a:t>78,6</a:t>
            </a:r>
          </a:p>
          <a:p>
            <a:r>
              <a:t>→</a:t>
            </a:r>
          </a:p>
          <a:p>
            <a:r>
              <a:t>85</a:t>
            </a:r>
          </a:p>
          <a:p>
            <a:r>
              <a:t>faixa Multiplicação na média do time</a:t>
            </a:r>
          </a:p>
          <a:p>
            <a:r>
              <a:t>MATURIDADE AGÊNTICA</a:t>
            </a:r>
          </a:p>
          <a:p>
            <a:r>
              <a:t>52</a:t>
            </a:r>
          </a:p>
          <a:p>
            <a:r>
              <a:t>→</a:t>
            </a:r>
          </a:p>
          <a:p>
            <a:r>
              <a:t>70</a:t>
            </a:r>
          </a:p>
          <a:p>
            <a:r>
              <a:t>o gargalo vira competência</a:t>
            </a:r>
          </a:p>
          <a:p>
            <a:r>
              <a:t>ADOÇÃO DO CADERNO</a:t>
            </a:r>
          </a:p>
          <a:p>
            <a:r>
              <a:t>76%</a:t>
            </a:r>
          </a:p>
          <a:p>
            <a:r>
              <a:t>→</a:t>
            </a:r>
          </a:p>
          <a:p>
            <a:r>
              <a:t>100%</a:t>
            </a:r>
          </a:p>
          <a:p>
            <a:r>
              <a:t>8 pessoas a ativar + nova rodada em jan</a:t>
            </a:r>
          </a:p>
          <a:p>
            <a:r>
              <a:t>SKILLS PUBLICADAS NO FLOWS</a:t>
            </a:r>
          </a:p>
          <a:p>
            <a:r>
              <a:t>—</a:t>
            </a:r>
          </a:p>
          <a:p>
            <a:r>
              <a:t>→</a:t>
            </a:r>
          </a:p>
          <a:p>
            <a:r>
              <a:t>20</a:t>
            </a:r>
          </a:p>
          <a:p>
            <a:r>
              <a:t>2 por multiplicador, reutilizáveis pelo time</a:t>
            </a:r>
          </a:p>
          <a:p>
            <a:r>
              <a:t>POR ONDE SEGUIMOS · 3 ONDAS</a:t>
            </a:r>
          </a:p>
          <a:p>
            <a:r>
              <a:t>1 · Ativar</a:t>
            </a:r>
          </a:p>
          <a:p>
            <a:r>
              <a:t>SEMANAS 1–3</a:t>
            </a:r>
          </a:p>
          <a:p>
            <a:r>
              <a:t>Fechar a adoção: convite 1:1 para quem não abriu ou parou no meio</a:t>
            </a:r>
          </a:p>
          <a:p>
            <a:r>
              <a:t>Devolutiva individual: cada pessoa recebe seu índice e sua trilha</a:t>
            </a:r>
          </a:p>
          <a:p>
            <a:r>
              <a:t>Formalizar os 10 Multiplicadores (faixa ≥ 81) como guilda</a:t>
            </a:r>
          </a:p>
          <a:p>
            <a:r>
              <a:t>2 · Aprofundar</a:t>
            </a:r>
          </a:p>
          <a:p>
            <a:r>
              <a:t>SEMANAS 4–8</a:t>
            </a:r>
          </a:p>
          <a:p>
            <a:r>
              <a:t>Trilhas por faixa (abaixo), com 1 caso real de projeto por pessoa</a:t>
            </a:r>
          </a:p>
          <a:p>
            <a:r>
              <a:t>“Clínica de Prompt” quinzenal com feedback ao vivo (o +24 pts)</a:t>
            </a:r>
          </a:p>
          <a:p>
            <a:r>
              <a:t>Sprint agêntica: 1 agente/MCP por frente de DTS</a:t>
            </a:r>
          </a:p>
          <a:p>
            <a:r>
              <a:t>3 · Multiplicar</a:t>
            </a:r>
          </a:p>
          <a:p>
            <a:r>
              <a:t>SEMANAS 9–12</a:t>
            </a:r>
          </a:p>
          <a:p>
            <a:r>
              <a:t>Skill da Semana: publicar e demonstrar no FLOWS</a:t>
            </a:r>
          </a:p>
          <a:p>
            <a:r>
              <a:t>Ranking gamificado: reuso de Skills e Métodos no time</a:t>
            </a:r>
          </a:p>
          <a:p>
            <a:r>
              <a:t>Nova rodada do caderno para medir a evolução</a:t>
            </a:r>
          </a:p>
          <a:p>
            <a:r>
              <a:t>TREINAMENTOS ESPECÍFICOS DE IA E FERRAMENTAS</a:t>
            </a:r>
          </a:p>
          <a:p>
            <a:r>
              <a:t>Métodos na Prática</a:t>
            </a:r>
          </a:p>
          <a:p>
            <a:r>
              <a:t>Do “arquivo antigo” ao Método do FLOWS: achar, adaptar e registrar.</a:t>
            </a:r>
          </a:p>
          <a:p>
            <a:r>
              <a:t>EVOLUÇÃO → AUTONOMIA</a:t>
            </a:r>
          </a:p>
          <a:p>
            <a:r>
              <a:t>FLOWS</a:t>
            </a:r>
          </a:p>
          <a:p>
            <a:r>
              <a:t>2H</a:t>
            </a:r>
          </a:p>
          <a:p>
            <a:r>
              <a:t>Prompt de Contexto</a:t>
            </a:r>
          </a:p>
          <a:p>
            <a:r>
              <a:t>Objetivo, contexto, público, formato e referências. Clínica com casos reais.</a:t>
            </a:r>
          </a:p>
          <a:p>
            <a:r>
              <a:t>TODOS</a:t>
            </a:r>
          </a:p>
          <a:p>
            <a:r>
              <a:t>CLAUDE</a:t>
            </a:r>
          </a:p>
          <a:p>
            <a:r>
              <a:t>1H30</a:t>
            </a:r>
          </a:p>
          <a:p>
            <a:r>
              <a:t>Claude Desktop Power User</a:t>
            </a:r>
          </a:p>
          <a:p>
            <a:r>
              <a:t>Projects, Artifacts, arquivos, conectores e memória no dia a dia.</a:t>
            </a:r>
          </a:p>
          <a:p>
            <a:r>
              <a:t>EVOLUÇÃO → AUTONOMIA</a:t>
            </a:r>
          </a:p>
          <a:p>
            <a:r>
              <a:t>CLAUDE</a:t>
            </a:r>
          </a:p>
          <a:p>
            <a:r>
              <a:t>2H</a:t>
            </a:r>
          </a:p>
          <a:p>
            <a:r>
              <a:t>Skill Lab</a:t>
            </a:r>
          </a:p>
          <a:p>
            <a:r>
              <a:t>Construir, testar e publicar uma Skill autoral reutilizável pelo time.</a:t>
            </a:r>
          </a:p>
          <a:p>
            <a:r>
              <a:t>AUTONOMIA</a:t>
            </a:r>
          </a:p>
          <a:p>
            <a:r>
              <a:t>SKILLS</a:t>
            </a:r>
          </a:p>
          <a:p>
            <a:r>
              <a:t>3H</a:t>
            </a:r>
          </a:p>
          <a:p>
            <a:r>
              <a:t>Agentes &amp; MCP</a:t>
            </a:r>
          </a:p>
          <a:p>
            <a:r>
              <a:t>Do prompt à orquestração: Método → Skill → Agente, com MCP e dados.</a:t>
            </a:r>
          </a:p>
          <a:p>
            <a:r>
              <a:t>GARGALO</a:t>
            </a:r>
          </a:p>
          <a:p>
            <a:r>
              <a:t>AGENTES</a:t>
            </a:r>
          </a:p>
          <a:p>
            <a:r>
              <a:t>4H</a:t>
            </a:r>
          </a:p>
          <a:p>
            <a:r>
              <a:t>Escola de Multiplicadores</a:t>
            </a:r>
          </a:p>
          <a:p>
            <a:r>
              <a:t>Facilitação, mentoria e como transformar entrega em ativo do time.</a:t>
            </a:r>
          </a:p>
          <a:p>
            <a:r>
              <a:t>MULTIPLICAÇÃO</a:t>
            </a:r>
          </a:p>
          <a:p>
            <a:r>
              <a:t>GUILDA</a:t>
            </a:r>
          </a:p>
          <a:p>
            <a:r>
              <a:t>2H</a:t>
            </a:r>
          </a:p>
          <a:p>
            <a:r>
              <a:t>QUEM FAZ O QUÊ · TRILHA POR FAIXA</a:t>
            </a:r>
          </a:p>
          <a:p>
            <a:r>
              <a:t>EVOLUÇÃO · 1 PESSOA</a:t>
            </a:r>
          </a:p>
          <a:p>
            <a:r>
              <a:t>Trilha 01 → 02 → 03 + padrinho multiplicador. Foco: hábito de Métodos e FLOWS.</a:t>
            </a:r>
          </a:p>
          <a:p>
            <a:r>
              <a:t>AUTONOMIA · 14 PESSOAS</a:t>
            </a:r>
          </a:p>
          <a:p>
            <a:r>
              <a:t>Trilha 02 → 04 → 05. Entrega: 1 Skill autoral e 1 agente aplicado a um projeto real.</a:t>
            </a:r>
          </a:p>
          <a:p>
            <a:r>
              <a:t>MULTIPLICAÇÃO · 10 PESSOAS</a:t>
            </a:r>
          </a:p>
          <a:p>
            <a:r>
              <a:t>Trilha 05 → 06. Cada um apadrinha 2 colegas e publica 2 Skills no FLOWS.</a:t>
            </a:r>
          </a:p>
          <a:p>
            <a:r>
              <a:t>Regra de ouro: todo treinamento termina com um ativo publicado no FLOWS, não com um certificado.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Trilha gratuita no YouTube, em português, em 3 níveis. Os links abrem buscas em PT-BR em canais educativos conhecidos. O botão de vídeo aleatório sugere conteúdo de design, sistemas, jogos e dados.</a:t>
            </a:r>
          </a:p>
          <a:p/>
          <a:p>
            <a:r>
              <a:t>— Conteúdo da página —</a:t>
            </a:r>
          </a:p>
          <a:p>
            <a:r>
              <a:t>BÔNUS · CATEQUIZAÇÃO EXTERNA</a:t>
            </a:r>
          </a:p>
          <a:p>
            <a:r>
              <a:t>04</a:t>
            </a:r>
          </a:p>
          <a:p>
            <a:r>
              <a:t>Trilha aberta no YouTube</a:t>
            </a:r>
          </a:p>
          <a:p>
            <a:r>
              <a:t>Conteúdo gratuito e em português para estudar no próprio ritmo, do básico ao intermediário. Cada link abre uma busca no YouTube em canais educativos de confiança.</a:t>
            </a:r>
          </a:p>
          <a:p>
            <a:r>
              <a:t>“10 minutos por dia &gt; 1 curso por ano.”</a:t>
            </a:r>
          </a:p>
          <a:p>
            <a:r>
              <a:t>CURADORIA · CONTEÚDO PÚBLICO E GRATUITO · PT-BR</a:t>
            </a:r>
          </a:p>
          <a:p>
            <a:r>
              <a:t>3 NÍVEIS · DO ZERO AO AGENTE</a:t>
            </a:r>
          </a:p>
          <a:p>
            <a:r>
              <a:t>1</a:t>
            </a:r>
          </a:p>
          <a:p>
            <a:r>
              <a:t>Nível 1 · Básico</a:t>
            </a:r>
          </a:p>
          <a:p>
            <a:r>
              <a:t>Entender e começar a usar</a:t>
            </a:r>
          </a:p>
          <a:p>
            <a:r>
              <a:t>O que é IA generativa, explicado sem jargão</a:t>
            </a:r>
          </a:p>
          <a:p>
            <a:r>
              <a:t>Canal Nerdologia · busca</a:t>
            </a:r>
          </a:p>
          <a:p>
            <a:r>
              <a:t>Como escrever bons prompts</a:t>
            </a:r>
          </a:p>
          <a:p>
            <a:r>
              <a:t>Hashtag Treinamentos · busca</a:t>
            </a:r>
          </a:p>
          <a:p>
            <a:r>
              <a:t>Claude: primeiros passos em português</a:t>
            </a:r>
          </a:p>
          <a:p>
            <a:r>
              <a:t>tutoriais PT-BR · busca</a:t>
            </a:r>
          </a:p>
          <a:p>
            <a:r>
              <a:t>IA para produtividade no trabalho</a:t>
            </a:r>
          </a:p>
          <a:p>
            <a:r>
              <a:t>Sebrae · busca</a:t>
            </a:r>
          </a:p>
          <a:p>
            <a:r>
              <a:t>Desafio prático: refaça um pedido da sua semana usando objetivo + contexto + formato e compare os resultados.</a:t>
            </a:r>
          </a:p>
          <a:p>
            <a:r>
              <a:t>2</a:t>
            </a:r>
          </a:p>
          <a:p>
            <a:r>
              <a:t>Nível 2 · Intermediário</a:t>
            </a:r>
          </a:p>
          <a:p>
            <a:r>
              <a:t>Contexto, reuso e automação</a:t>
            </a:r>
          </a:p>
          <a:p>
            <a:r>
              <a:t>Engenharia de prompt: técnicas e exemplos</a:t>
            </a:r>
          </a:p>
          <a:p>
            <a:r>
              <a:t>Filipe Deschamps · busca</a:t>
            </a:r>
          </a:p>
          <a:p>
            <a:r>
              <a:t>Claude Projects e Artifacts na prática</a:t>
            </a:r>
          </a:p>
          <a:p>
            <a:r>
              <a:t>tutoriais PT-BR · busca</a:t>
            </a:r>
          </a:p>
          <a:p>
            <a:r>
              <a:t>RAG explicado: IA com seus documentos</a:t>
            </a:r>
          </a:p>
          <a:p>
            <a:r>
              <a:t>Código Fonte TV · busca</a:t>
            </a:r>
          </a:p>
          <a:p>
            <a:r>
              <a:t>Automação com IA e n8n do zero</a:t>
            </a:r>
          </a:p>
          <a:p>
            <a:r>
              <a:t>tutoriais PT-BR · busca</a:t>
            </a:r>
          </a:p>
          <a:p>
            <a:r>
              <a:t>Desafio prático: transforme uma entrega recorrente em um Projeto do Claude com instruções e arquivos de referência.</a:t>
            </a:r>
          </a:p>
          <a:p>
            <a:r>
              <a:t>3</a:t>
            </a:r>
          </a:p>
          <a:p>
            <a:r>
              <a:t>Nível 3 · Agentes</a:t>
            </a:r>
          </a:p>
          <a:p>
            <a:r>
              <a:t>Orquestrar Método → Skill → Agente</a:t>
            </a:r>
          </a:p>
          <a:p>
            <a:r>
              <a:t>Agentes de IA: o que são e como funcionam</a:t>
            </a:r>
          </a:p>
          <a:p>
            <a:r>
              <a:t>Código Fonte TV · busca</a:t>
            </a:r>
          </a:p>
          <a:p>
            <a:r>
              <a:t>MCP (Model Context Protocol) explicado</a:t>
            </a:r>
          </a:p>
          <a:p>
            <a:r>
              <a:t>tutoriais PT-BR · busca</a:t>
            </a:r>
          </a:p>
          <a:p>
            <a:r>
              <a:t>Claude Code na prática</a:t>
            </a:r>
          </a:p>
          <a:p>
            <a:r>
              <a:t>tutoriais PT-BR · busca</a:t>
            </a:r>
          </a:p>
          <a:p>
            <a:r>
              <a:t>Sistemas multiagentes com CrewAI</a:t>
            </a:r>
          </a:p>
          <a:p>
            <a:r>
              <a:t>DIO · busca</a:t>
            </a:r>
          </a:p>
          <a:p>
            <a:r>
              <a:t>Desafio prático: desenhe no papel um agente Método → Skill → Agente para uma tarefa do seu projeto e leve à Clínica.</a:t>
            </a:r>
          </a:p>
          <a:p>
            <a:r>
              <a:t>Vídeo aleatório</a:t>
            </a:r>
          </a:p>
          <a:p>
            <a:r>
              <a:t>DESIGN</a:t>
            </a:r>
          </a:p>
          <a:p>
            <a:r>
              <a:t>SISTEMAS</a:t>
            </a:r>
          </a:p>
          <a:p>
            <a:r>
              <a:t>JOGOS</a:t>
            </a:r>
          </a:p>
          <a:p>
            <a:r>
              <a:t>DADOS</a:t>
            </a:r>
          </a:p>
          <a:p>
            <a:r>
              <a:t>PRODUTIVIDADE</a:t>
            </a:r>
          </a:p>
          <a:p>
            <a:r>
              <a:t>▶ Aela UX UI design</a:t>
            </a:r>
          </a:p>
          <a:p>
            <a:r>
              <a:t>Categoria: Design · abre a busca no YouTube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7 do caderno: retrato falado. 23 pessoas escreveram um prompt e só 14 marcaram quem retrataram. As outras 11 foram identificadas pelas características descritas. Ana Paula foi a mais retratada (5 vezes).</a:t>
            </a:r>
          </a:p>
          <a:p/>
          <a:p>
            <a:r>
              <a:t>— Conteúdo da página —</a:t>
            </a:r>
          </a:p>
          <a:p>
            <a:r>
              <a:t>PÁGINA 07 · RETRATO FALADO DTS</a:t>
            </a:r>
          </a:p>
          <a:p>
            <a:r>
              <a:t>05</a:t>
            </a:r>
          </a:p>
          <a:p>
            <a:r>
              <a:t>Mural do Retrato Falado</a:t>
            </a:r>
          </a:p>
          <a:p>
            <a:r>
              <a:t>23 pessoas escreveram um prompt de caricatura e só 14 marcaram quem era. Fizemos o trabalho de detetive e as outras 11 foram identificadas pelas pistas que cada um deu.</a:t>
            </a:r>
          </a:p>
          <a:p>
            <a:r>
              <a:t>“Passe o mouse para descobrir quem desenhou quem.”</a:t>
            </a:r>
          </a:p>
          <a:p>
            <a:r>
              <a:t>CARICATURAS GERADAS A PARTIR DOS PROMPTS DO TIME</a:t>
            </a:r>
          </a:p>
          <a:p>
            <a:r>
              <a:t>5× retratada</a:t>
            </a:r>
          </a:p>
          <a:p>
            <a:r>
              <a:t>Ana Paula Costa</a:t>
            </a:r>
          </a:p>
          <a:p>
            <a:r>
              <a:t>Volume de cabelo: nível Multiplicação</a:t>
            </a:r>
          </a:p>
          <a:p>
            <a:r>
              <a:t>4× retratado</a:t>
            </a:r>
          </a:p>
          <a:p>
            <a:r>
              <a:t>18 PRO</a:t>
            </a:r>
          </a:p>
          <a:p>
            <a:r>
              <a:t>Guilherme Antonialli</a:t>
            </a:r>
          </a:p>
          <a:p>
            <a:r>
              <a:t>Johnny Bravo de Tupã, com lulu e iPhone 18 no bolso</a:t>
            </a:r>
          </a:p>
          <a:p>
            <a:r>
              <a:t>3× retratado</a:t>
            </a:r>
          </a:p>
          <a:p>
            <a:r>
              <a:t>Thiago Vieira</a:t>
            </a:r>
          </a:p>
          <a:p>
            <a:r>
              <a:t>Já chega com o deck pronto</a:t>
            </a:r>
          </a:p>
          <a:p>
            <a:r>
              <a:t>3× retratado</a:t>
            </a:r>
          </a:p>
          <a:p>
            <a:r>
              <a:t>♪</a:t>
            </a:r>
          </a:p>
          <a:p>
            <a:r>
              <a:t>♫</a:t>
            </a:r>
          </a:p>
          <a:p>
            <a:r>
              <a:t>♪</a:t>
            </a:r>
          </a:p>
          <a:p>
            <a:r>
              <a:t>João Lopes</a:t>
            </a:r>
          </a:p>
          <a:p>
            <a:r>
              <a:t>O cantor oficial de DTS: pagode no Tio Sam</a:t>
            </a:r>
          </a:p>
          <a:p>
            <a:r>
              <a:t>3× retratado</a:t>
            </a:r>
          </a:p>
          <a:p>
            <a:r>
              <a:t>SELFIE</a:t>
            </a:r>
          </a:p>
          <a:p>
            <a:r>
              <a:t>Marcos Massao</a:t>
            </a:r>
          </a:p>
          <a:p>
            <a:r>
              <a:t>Se autorretratou. Duas vezes.</a:t>
            </a:r>
          </a:p>
          <a:p>
            <a:r>
              <a:t>2× retratada</a:t>
            </a:r>
          </a:p>
          <a:p>
            <a:r>
              <a:t>mangá!</a:t>
            </a:r>
          </a:p>
          <a:p>
            <a:r>
              <a:t>Talita Galvão</a:t>
            </a:r>
          </a:p>
          <a:p>
            <a:r>
              <a:t>Modo mangá: ativado</a:t>
            </a:r>
          </a:p>
          <a:p>
            <a:r>
              <a:t>2× retratado</a:t>
            </a:r>
          </a:p>
          <a:p>
            <a:r>
              <a:t>?</a:t>
            </a:r>
          </a:p>
          <a:p>
            <a:r>
              <a:t>Alexandre Domingues</a:t>
            </a:r>
          </a:p>
          <a:p>
            <a:r>
              <a:t>O retrato que ficou em branco</a:t>
            </a:r>
          </a:p>
          <a:p>
            <a:r>
              <a:t>1× retratado</a:t>
            </a:r>
          </a:p>
          <a:p>
            <a:r>
              <a:t>DTS</a:t>
            </a:r>
          </a:p>
          <a:p>
            <a:r>
              <a:t>caderno</a:t>
            </a:r>
          </a:p>
          <a:p>
            <a:r>
              <a:t>Victor Vitorino</a:t>
            </a:r>
          </a:p>
          <a:p>
            <a:r>
              <a:t>Expressão “séria”, dono do caderno</a:t>
            </a:r>
          </a:p>
          <a:p>
            <a:r>
              <a:t>1× retratada</a:t>
            </a:r>
          </a:p>
          <a:p>
            <a:r>
              <a:t>♪</a:t>
            </a:r>
          </a:p>
          <a:p>
            <a:r>
              <a:t>Laís Velame</a:t>
            </a:r>
          </a:p>
          <a:p>
            <a:r>
              <a:t>Fora do mural, dentro do samba rock</a:t>
            </a:r>
          </a:p>
          <a:p>
            <a:r>
              <a:t>23</a:t>
            </a:r>
          </a:p>
          <a:p>
            <a:r>
              <a:t>retratos falados</a:t>
            </a:r>
          </a:p>
          <a:p>
            <a:r>
              <a:t>escritos</a:t>
            </a:r>
          </a:p>
          <a:p>
            <a:r>
              <a:t>17 reescreveram e a estrutura do prompt subiu +24 pts</a:t>
            </a:r>
          </a:p>
          <a:p>
            <a:r>
              <a:t>INVESTIGAÇÃO · QUEM NÃO MARCOU E DESENHOU QUEM</a:t>
            </a:r>
          </a:p>
          <a:p>
            <a:r>
              <a:t>Alexandre Domingues</a:t>
            </a:r>
          </a:p>
          <a:p>
            <a:r>
              <a:t>→</a:t>
            </a:r>
          </a:p>
          <a:p>
            <a:r>
              <a:t>Victor Vitorino · citou “Victor”</a:t>
            </a:r>
          </a:p>
          <a:p>
            <a:r>
              <a:t>CERTEZA</a:t>
            </a:r>
          </a:p>
          <a:p>
            <a:r>
              <a:t>Abner Barreto</a:t>
            </a:r>
          </a:p>
          <a:p>
            <a:r>
              <a:t>→</a:t>
            </a:r>
          </a:p>
          <a:p>
            <a:r>
              <a:t>Laís Velame (fora do mural) · citou “a lais”</a:t>
            </a:r>
          </a:p>
          <a:p>
            <a:r>
              <a:t>CERTEZA</a:t>
            </a:r>
          </a:p>
          <a:p>
            <a:r>
              <a:t>Thais Correia Rosa</a:t>
            </a:r>
          </a:p>
          <a:p>
            <a:r>
              <a:t>→</a:t>
            </a:r>
          </a:p>
          <a:p>
            <a:r>
              <a:t>Marcos Massao · citou no 2º rascunho</a:t>
            </a:r>
          </a:p>
          <a:p>
            <a:r>
              <a:t>CERTEZA</a:t>
            </a:r>
          </a:p>
          <a:p>
            <a:r>
              <a:t>Julio Feijo</a:t>
            </a:r>
          </a:p>
          <a:p>
            <a:r>
              <a:t>→</a:t>
            </a:r>
          </a:p>
          <a:p>
            <a:r>
              <a:t>Ana Paula Costa · ondas + mechas caramelo</a:t>
            </a:r>
          </a:p>
          <a:p>
            <a:r>
              <a:t>CERTEZA</a:t>
            </a:r>
          </a:p>
          <a:p>
            <a:r>
              <a:t>Natalia Topa</a:t>
            </a:r>
          </a:p>
          <a:p>
            <a:r>
              <a:t>→</a:t>
            </a:r>
          </a:p>
          <a:p>
            <a:r>
              <a:t>Thiago Vieira · óculos + barba + sorrisão</a:t>
            </a:r>
          </a:p>
          <a:p>
            <a:r>
              <a:t>PROVÁVEL</a:t>
            </a:r>
          </a:p>
          <a:p>
            <a:r>
              <a:t>Vinicius de Sousa</a:t>
            </a:r>
          </a:p>
          <a:p>
            <a:r>
              <a:t>→</a:t>
            </a:r>
          </a:p>
          <a:p>
            <a:r>
              <a:t>Ana Paula Costa · sorriso largo + maçãs</a:t>
            </a:r>
          </a:p>
          <a:p>
            <a:r>
              <a:t>PROVÁVEL</a:t>
            </a:r>
          </a:p>
          <a:p>
            <a:r>
              <a:t>Ana Carolina Godeia</a:t>
            </a:r>
          </a:p>
          <a:p>
            <a:r>
              <a:t>→</a:t>
            </a:r>
          </a:p>
          <a:p>
            <a:r>
              <a:t>Talita Galvão · cabelo liso, repartido</a:t>
            </a:r>
          </a:p>
          <a:p>
            <a:r>
              <a:t>PROVÁVEL</a:t>
            </a:r>
          </a:p>
          <a:p>
            <a:r>
              <a:t>Guilherme Tanaka</a:t>
            </a:r>
          </a:p>
          <a:p>
            <a:r>
              <a:t>→</a:t>
            </a:r>
          </a:p>
          <a:p>
            <a:r>
              <a:t>Guilherme Antonialli · barba e cabelo pretos</a:t>
            </a:r>
          </a:p>
          <a:p>
            <a:r>
              <a:t>PALPITE</a:t>
            </a:r>
          </a:p>
          <a:p>
            <a:r>
              <a:t>Rodrigo Brea</a:t>
            </a:r>
          </a:p>
          <a:p>
            <a:r>
              <a:t>→</a:t>
            </a:r>
          </a:p>
          <a:p>
            <a:r>
              <a:t>Guilherme Antonialli · rosto redondo, sobrancelhas</a:t>
            </a:r>
          </a:p>
          <a:p>
            <a:r>
              <a:t>PALPITE</a:t>
            </a:r>
          </a:p>
          <a:p>
            <a:r>
              <a:t>Pedro H. Ramos</a:t>
            </a:r>
          </a:p>
          <a:p>
            <a:r>
              <a:t>→</a:t>
            </a:r>
          </a:p>
          <a:p>
            <a:r>
              <a:t>Alexandre Domingues · rosto fino, magro</a:t>
            </a:r>
          </a:p>
          <a:p>
            <a:r>
              <a:t>PALPITE</a:t>
            </a:r>
          </a:p>
          <a:p>
            <a:r>
              <a:t>Pedro Lanzetta</a:t>
            </a:r>
          </a:p>
          <a:p>
            <a:r>
              <a:t>→</a:t>
            </a:r>
          </a:p>
          <a:p>
            <a:r>
              <a:t>não bate com o mural · autorretrato? 😄</a:t>
            </a:r>
          </a:p>
          <a:p>
            <a:r>
              <a:t>PALPITE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youtube.com/results?search_query=Nerdologia%20intelig%C3%AAncia%20artificial" TargetMode="External"/><Relationship Id="rId4" Type="http://schemas.openxmlformats.org/officeDocument/2006/relationships/hyperlink" Target="https://www.youtube.com/results?search_query=Hashtag%20Treinamentos%20como%20escrever%20prompts%20intelig%C3%AAncia%20artificial" TargetMode="External"/><Relationship Id="rId5" Type="http://schemas.openxmlformats.org/officeDocument/2006/relationships/hyperlink" Target="https://www.youtube.com/results?search_query=Claude%20IA%20Anthropic%20tutorial%20portugu%C3%AAs%20iniciantes" TargetMode="External"/><Relationship Id="rId6" Type="http://schemas.openxmlformats.org/officeDocument/2006/relationships/hyperlink" Target="https://www.youtube.com/results?search_query=Sebrae%20intelig%C3%AAncia%20artificial%20produtividade" TargetMode="External"/><Relationship Id="rId7" Type="http://schemas.openxmlformats.org/officeDocument/2006/relationships/hyperlink" Target="https://www.youtube.com/results?search_query=Filipe%20Deschamps%20engenharia%20de%20prompt" TargetMode="External"/><Relationship Id="rId8" Type="http://schemas.openxmlformats.org/officeDocument/2006/relationships/hyperlink" Target="https://www.youtube.com/results?search_query=Claude%20Projects%20Artifacts%20tutorial%20portugu%C3%AAs" TargetMode="External"/><Relationship Id="rId9" Type="http://schemas.openxmlformats.org/officeDocument/2006/relationships/hyperlink" Target="https://www.youtube.com/results?search_query=C%C3%B3digo%20Fonte%20TV%20RAG%20intelig%C3%AAncia%20artificial" TargetMode="External"/><Relationship Id="rId10" Type="http://schemas.openxmlformats.org/officeDocument/2006/relationships/hyperlink" Target="https://www.youtube.com/results?search_query=n8n%20automa%C3%A7%C3%A3o%20intelig%C3%AAncia%20artificial%20tutorial%20portugu%C3%AAs" TargetMode="External"/><Relationship Id="rId11" Type="http://schemas.openxmlformats.org/officeDocument/2006/relationships/hyperlink" Target="https://www.youtube.com/results?search_query=C%C3%B3digo%20Fonte%20TV%20agentes%20de%20IA" TargetMode="External"/><Relationship Id="rId12" Type="http://schemas.openxmlformats.org/officeDocument/2006/relationships/hyperlink" Target="https://www.youtube.com/results?search_query=MCP%20Model%20Context%20Protocol%20explicado%20portugu%C3%AAs" TargetMode="External"/><Relationship Id="rId13" Type="http://schemas.openxmlformats.org/officeDocument/2006/relationships/hyperlink" Target="https://www.youtube.com/results?search_query=Claude%20Code%20tutorial%20portugu%C3%AAs" TargetMode="External"/><Relationship Id="rId14" Type="http://schemas.openxmlformats.org/officeDocument/2006/relationships/hyperlink" Target="https://www.youtube.com/results?search_query=CrewAI%20agentes%20tutorial%20portugu%C3%AAs" TargetMode="External"/><Relationship Id="rId15" Type="http://schemas.openxmlformats.org/officeDocument/2006/relationships/hyperlink" Target="https://www.youtube.com/results?search_query=Aela%20UX%20UI%20design" TargetMode="External"/><Relationship Id="rId1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3329940" y="1021080"/>
            <a:ext cx="2555200" cy="50863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3329940" y="1605915"/>
            <a:ext cx="2555200" cy="4267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3329940" y="2108835"/>
            <a:ext cx="2555200" cy="4267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3329940" y="2611755"/>
            <a:ext cx="2555200" cy="4267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6266140" y="1021080"/>
            <a:ext cx="2555200" cy="50863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266140" y="1605915"/>
            <a:ext cx="2555200" cy="4267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6266140" y="2108835"/>
            <a:ext cx="2555200" cy="50863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6266140" y="2693670"/>
            <a:ext cx="2555200" cy="4267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9202340" y="1021080"/>
            <a:ext cx="2555319" cy="50863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r:id="rId12"/>
          </p:cNvPr>
          <p:cNvSpPr/>
          <p:nvPr/>
        </p:nvSpPr>
        <p:spPr>
          <a:xfrm>
            <a:off x="9202340" y="1605915"/>
            <a:ext cx="2555319" cy="50863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r:id="rId13"/>
          </p:cNvPr>
          <p:cNvSpPr/>
          <p:nvPr/>
        </p:nvSpPr>
        <p:spPr>
          <a:xfrm>
            <a:off x="9202340" y="2190750"/>
            <a:ext cx="2555319" cy="4267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>
            <a:hlinkClick r:id="rId14"/>
          </p:cNvPr>
          <p:cNvSpPr/>
          <p:nvPr/>
        </p:nvSpPr>
        <p:spPr>
          <a:xfrm>
            <a:off x="9202340" y="2693670"/>
            <a:ext cx="2555319" cy="4267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hlinkClick r:id="rId15"/>
          </p:cNvPr>
          <p:cNvSpPr/>
          <p:nvPr/>
        </p:nvSpPr>
        <p:spPr>
          <a:xfrm>
            <a:off x="4893468" y="6195060"/>
            <a:ext cx="6856571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Diagnóstico de Nivelamento IA · DTS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