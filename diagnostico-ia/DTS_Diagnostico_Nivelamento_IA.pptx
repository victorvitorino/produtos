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Capa da devolutiva do Caderno de Nivelamento DTS. O visual segue o caderno que o time respondeu: página azul à esquerda e papel quadriculado à direita. Clique em um item do sumário para ir direto à página.</a:t>
            </a:r>
          </a:p>
          <a:p/>
          <a:p>
            <a:r>
              <a:t>— Conteúdo —</a:t>
            </a:r>
          </a:p>
          <a:p>
            <a:r>
              <a:t>ALVAREZ &amp; MARSAL · DTS · NIVELAMENTO IA</a:t>
            </a:r>
          </a:p>
          <a:p>
            <a:r>
              <a:t>Caderno de Nivelamento DTS</a:t>
            </a:r>
          </a:p>
          <a:p>
            <a:r>
              <a:t>Resultados e próximos passos</a:t>
            </a:r>
          </a:p>
          <a:p>
            <a:r>
              <a:t>25 cadernos concluídos. O que descobrimos sobre como o time usa IA hoje, o que falta para delegar a agentes e por onde seguimos a partir de agora.</a:t>
            </a:r>
          </a:p>
          <a:p>
            <a:r>
              <a:t>ALVAREZ &amp; MARSAL</a:t>
            </a:r>
          </a:p>
          <a:p>
            <a:r>
              <a:t>DIGITAL &amp; TECHNOLOGY SERVICES</a:t>
            </a:r>
          </a:p>
          <a:p>
            <a:r>
              <a:t>Antes de começar: isto não é um ranking. É uma fotografia do time para decidir juntos os próximos passos.</a:t>
            </a:r>
          </a:p>
          <a:p>
            <a:r>
              <a:t>01</a:t>
            </a:r>
          </a:p>
          <a:p>
            <a:r>
              <a:t>Resultados</a:t>
            </a:r>
          </a:p>
          <a:p>
            <a:r>
              <a:t>onde estamos</a:t>
            </a:r>
          </a:p>
          <a:p>
            <a:r>
              <a:t>02</a:t>
            </a:r>
          </a:p>
          <a:p>
            <a:r>
              <a:t>Delegar</a:t>
            </a:r>
          </a:p>
          <a:p>
            <a:r>
              <a:t>pedir × delegar</a:t>
            </a:r>
          </a:p>
          <a:p>
            <a:r>
              <a:t>03</a:t>
            </a:r>
          </a:p>
          <a:p>
            <a:r>
              <a:t>Prompt e modelos</a:t>
            </a:r>
          </a:p>
          <a:p>
            <a:r>
              <a:t>5 peças + modelos</a:t>
            </a:r>
          </a:p>
          <a:p>
            <a:r>
              <a:t>04</a:t>
            </a:r>
          </a:p>
          <a:p>
            <a:r>
              <a:t>Para onde vamos</a:t>
            </a:r>
          </a:p>
          <a:p>
            <a:r>
              <a:t>direcionador + trilha</a:t>
            </a:r>
          </a:p>
          <a:p>
            <a:r>
              <a:t>05</a:t>
            </a:r>
          </a:p>
          <a:p>
            <a:r>
              <a:t>Mural</a:t>
            </a:r>
          </a:p>
          <a:p>
            <a:r>
              <a:t>retrato falado</a:t>
            </a:r>
          </a:p>
          <a:p>
            <a:r>
              <a:t>DOCUMENTO PARA DISCUSSÃO · OUT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Índice consolidado: combina o que cada pessoa disse fazer com o que ela demonstrou nas 6 brincadeiras do caderno. As brincadeiras pesam mais. </a:t>
            </a:r>
          </a:p>
          <a:p/>
          <a:p>
            <a:r>
              <a:t>Adoção: considera os 33 convidados da lista do encontro. </a:t>
            </a:r>
          </a:p>
          <a:p/>
          <a:p>
            <a:r>
              <a:t>Faixas: Ponto de partida (0–20), Exploração (21–40), Evolução (41–60), Autonomia (61–80) e Multiplicação (81–100).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RESULTADOS</a:t>
            </a:r>
          </a:p>
          <a:p>
            <a:r>
              <a:t>Parte 1 · Onde DTS está hoje</a:t>
            </a:r>
          </a:p>
          <a:p>
            <a:r>
              <a:t>Diagnóstico IA · DTS</a:t>
            </a:r>
          </a:p>
          <a:p>
            <a:r>
              <a:t>1/5</a:t>
            </a:r>
          </a:p>
          <a:p>
            <a:r>
              <a:t>RESULTADO DO CADERNO · ONDE ESTAMOS</a:t>
            </a:r>
          </a:p>
          <a:p>
            <a:r>
              <a:t>25 cadernos concluídos · 33 convidados</a:t>
            </a:r>
          </a:p>
          <a:p>
            <a:r>
              <a:t>ÍNDICE CONSOLIDADO DTS</a:t>
            </a:r>
          </a:p>
          <a:p>
            <a:r>
              <a:t>FAIXA AUTONOMIA</a:t>
            </a:r>
          </a:p>
          <a:p>
            <a:r>
              <a:t>78,6%</a:t>
            </a:r>
          </a:p>
          <a:p>
            <a:r>
              <a:t>O time já usa IA com independência.</a:t>
            </a:r>
          </a:p>
          <a:p>
            <a:r>
              <a:t>Usa Claude, FLOWS e Skills no dia a dia sem depender de ajuda. O próximo degrau, Multiplicação (81%+), é transformar esse uso em Skills, Métodos e agentes que o time inteiro reutiliza.</a:t>
            </a:r>
          </a:p>
          <a:p>
            <a:r>
              <a:t>DTS 78,6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Termômetro do time: cada traço é uma pessoa · laranja = já em Multiplicação</a:t>
            </a:r>
          </a:p>
          <a:p>
            <a:r>
              <a:t>ADOÇÃO DO CADERNO</a:t>
            </a:r>
          </a:p>
          <a:p>
            <a:r>
              <a:t>8 PESSOAS FORA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Iniciaram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Não concluíram</a:t>
            </a:r>
          </a:p>
          <a:p>
            <a:r>
              <a:t>8</a:t>
            </a:r>
          </a:p>
          <a:p>
            <a:r>
              <a:t>24%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4</a:t>
            </a:r>
          </a:p>
          <a:p>
            <a:r>
              <a:t>nem abriram</a:t>
            </a:r>
          </a:p>
          <a:p>
            <a:r>
              <a:t>85%</a:t>
            </a:r>
          </a:p>
          <a:p>
            <a:r>
              <a:t>dos que ignoraram o convite concluíram</a:t>
            </a:r>
          </a:p>
          <a:p>
            <a:r>
              <a:t>ONDE DTS SE ENCONTRA</a:t>
            </a:r>
          </a:p>
          <a:p>
            <a:r>
              <a:t>pessoas por faixa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DTS · 78,6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PRÓXIMO DEGRAU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24 de 25 pessoas já estão em Autonomia ou Multiplicação. Ninguém ficou nas duas primeiras faixas.</a:t>
            </a:r>
          </a:p>
          <a:p>
            <a:r>
              <a:t>ACHADO Nº 1 · O MAIS IMPORTANTE</a:t>
            </a:r>
          </a:p>
          <a:p>
            <a:r>
              <a:t>O time sabe mais do que acredita saber.</a:t>
            </a:r>
          </a:p>
          <a:p>
            <a:r>
              <a:t>21 de 25 pessoas demonstraram nas brincadeiras mais do que declararam no início. A distância média é de 20 pontos.</a:t>
            </a:r>
          </a:p>
          <a:p>
            <a:r>
              <a:t>Ou seja, o desafio de DTS não é capacidade, é confiança e hábito. Quem se subestima não compartilha, não vira referência e não propõe IA para o cliente. Por isso o próximo passo é prática visível (FLOWS e Skills em todo projeto), e não mais teoria.</a:t>
            </a:r>
          </a:p>
          <a:p>
            <a:r>
              <a:t>64,7</a:t>
            </a:r>
          </a:p>
          <a:p>
            <a:r>
              <a:t>DECLARADO</a:t>
            </a:r>
          </a:p>
          <a:p>
            <a:r>
              <a:t>+20 →</a:t>
            </a:r>
          </a:p>
          <a:p>
            <a:r>
              <a:t>84,6</a:t>
            </a:r>
          </a:p>
          <a:p>
            <a:r>
              <a:t>DEMONSTRADO</a:t>
            </a:r>
          </a:p>
          <a:p>
            <a:r>
              <a:t>ONDE A DISTÂNCIA É MAIOR</a:t>
            </a:r>
          </a:p>
          <a:p>
            <a:r>
              <a:t>Skills &amp; Métodos</a:t>
            </a:r>
          </a:p>
          <a:p>
            <a:r>
              <a:t>+35</a:t>
            </a:r>
          </a:p>
          <a:p>
            <a:r>
              <a:t>Reutilização</a:t>
            </a:r>
          </a:p>
          <a:p>
            <a:r>
              <a:t>+20</a:t>
            </a:r>
          </a:p>
          <a:p>
            <a:r>
              <a:t>Criar &amp; compartilhar</a:t>
            </a:r>
          </a:p>
          <a:p>
            <a:r>
              <a:t>+13</a:t>
            </a:r>
          </a:p>
          <a:p>
            <a:r>
              <a:t>Só 4 pessoas se avaliaram acima do que demonstraram.</a:t>
            </a:r>
          </a:p>
          <a:p>
            <a:r>
              <a:t>Fonte: Caderno de Nivelamento DTS (25 concluídos) · lista de convidados do encontro DTS (33)</a:t>
            </a:r>
          </a:p>
          <a:p>
            <a:r>
              <a:t>1/5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Maturidade agêntica foi a dimensão mais baixa do caderno (52). Na página 04 do caderno, 72% seguiram o caminho “FLOWS → verificar → adaptar” e só 1 pessoa encadeou Método → Skill → Agente. </a:t>
            </a:r>
          </a:p>
          <a:p/>
          <a:p>
            <a:r>
              <a:t>O exemplo do status report é ilustrativo e pode ser trocado por qualquer entrega recorrente do seu projeto.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DO PEDIDO À DELEGAÇÃO</a:t>
            </a:r>
          </a:p>
          <a:p>
            <a:r>
              <a:t>Parte 2 · O que falta para o próximo degrau</a:t>
            </a:r>
          </a:p>
          <a:p>
            <a:r>
              <a:t>Diagnóstico IA · DTS</a:t>
            </a:r>
          </a:p>
          <a:p>
            <a:r>
              <a:t>2/5</a:t>
            </a:r>
          </a:p>
          <a:p>
            <a:r>
              <a:t>SABEMOS PEDIR · AINDA NÃO SABEMOS DELEGAR</a:t>
            </a:r>
          </a:p>
          <a:p>
            <a:r>
              <a:t>Maturidade agêntica: 52 · a dimensão mais baixa do caderno</a:t>
            </a:r>
          </a:p>
          <a:p>
            <a:r>
              <a:t>🗨️ Pedir</a:t>
            </a:r>
          </a:p>
          <a:p>
            <a:r>
              <a:t>COMO FAZEMOS HOJE</a:t>
            </a:r>
          </a:p>
          <a:p>
            <a:r>
              <a:t>Uma pergunta por vez. A IA responde e você faz todo o resto: copia, cola, formata e confere.</a:t>
            </a:r>
          </a:p>
          <a:p>
            <a:r>
              <a:t>Toda semana começa do zero, com o mesmo pedido escrito de um jeito diferente.</a:t>
            </a:r>
          </a:p>
          <a:p>
            <a:r>
              <a:t>O conhecimento fica na sua cabeça (ou no seu chat), não no time.</a:t>
            </a:r>
          </a:p>
          <a:p>
            <a:r>
              <a:t>🤝 Delegar</a:t>
            </a:r>
          </a:p>
          <a:p>
            <a:r>
              <a:t>PARA ONDE VAMOS</a:t>
            </a:r>
          </a:p>
          <a:p>
            <a:r>
              <a:t>Você entrega objetivo, contexto, regras e critério de pronto. O agente executa várias etapas sozinho.</a:t>
            </a:r>
          </a:p>
          <a:p>
            <a:r>
              <a:t>Ele usa um Método (o como) e Skills (o padrão A&amp;M) que já existem no FLOWS.</a:t>
            </a:r>
          </a:p>
          <a:p>
            <a:r>
              <a:t>Você deixa de digitar e passa a revisar e aprovar.</a:t>
            </a:r>
          </a:p>
          <a:p>
            <a:r>
              <a:t>Exemplo · status report semanal do projeto de 2h toda sexta para 15 minutos de revisão</a:t>
            </a:r>
          </a:p>
          <a:p>
            <a:r>
              <a:t>1 · MÉTODO (FLOWS)</a:t>
            </a:r>
          </a:p>
          <a:p>
            <a:r>
              <a:t>O como</a:t>
            </a:r>
          </a:p>
          <a:p>
            <a:r>
              <a:t>O passo a passo DTS para o status report: fontes, seções, régua de semáforo e quem aprova.</a:t>
            </a:r>
          </a:p>
          <a:p>
            <a:r>
              <a:t>FLOWS › PMO › Status Report Semanal</a:t>
            </a:r>
          </a:p>
          <a:p>
            <a:r>
              <a:t>2 · SKILL</a:t>
            </a:r>
          </a:p>
          <a:p>
            <a:r>
              <a:t>O padrão</a:t>
            </a:r>
          </a:p>
          <a:p>
            <a:r>
              <a:t>Template A&amp;M, tom executivo e regras como “risco vermelho sempre com plano de ação”.</a:t>
            </a:r>
          </a:p>
          <a:p>
            <a:r>
              <a:t>skill: status-report-am</a:t>
            </a:r>
          </a:p>
          <a:p>
            <a:r>
              <a:t>3 · AGENTE</a:t>
            </a:r>
          </a:p>
          <a:p>
            <a:r>
              <a:t>A delegação</a:t>
            </a:r>
          </a:p>
          <a:p>
            <a:r>
              <a:t>“Toda sexta, leia as atas da semana e a planilha de riscos, gere o status no padrão e me mostre antes de enviar.”</a:t>
            </a:r>
          </a:p>
          <a:p>
            <a:r>
              <a:t>atas + riscos → rascunho pronto</a:t>
            </a:r>
          </a:p>
          <a:p>
            <a:r>
              <a:t>4 · VOCÊ</a:t>
            </a:r>
          </a:p>
          <a:p>
            <a:r>
              <a:t>Revisa e aprova</a:t>
            </a:r>
          </a:p>
          <a:p>
            <a:r>
              <a:t>Ajusta o que precisa de julgamento: mensagem para o cliente, prioridades e riscos sensíveis.</a:t>
            </a:r>
          </a:p>
          <a:p>
            <a:r>
              <a:t>15 min · e não 2h</a:t>
            </a:r>
          </a:p>
          <a:p>
            <a:r>
              <a:t>POR QUE USAR MÉTODOS?</a:t>
            </a:r>
          </a:p>
          <a:p>
            <a:r>
              <a:t>13 de 25 pessoas usam pouco ou nada (o item de menor uso do caderno)</a:t>
            </a:r>
          </a:p>
          <a:p>
            <a:r>
              <a:t>Não reinventa a roda</a:t>
            </a:r>
          </a:p>
          <a:p>
            <a:r>
              <a:t>Alguém de DTS já resolveu esse problema. O Método do FLOWS é o atalho para começar do melhor ponto.</a:t>
            </a:r>
          </a:p>
          <a:p>
            <a:r>
              <a:t>Qualidade padrão A&amp;M</a:t>
            </a:r>
          </a:p>
          <a:p>
            <a:r>
              <a:t>Mesma estrutura, mesmos critérios e a mesma régua em todo projeto, seja quem for o consultor.</a:t>
            </a:r>
          </a:p>
          <a:p>
            <a:r>
              <a:t>Sem Método, sem agente</a:t>
            </a:r>
          </a:p>
          <a:p>
            <a:r>
              <a:t>Não dá para delegar o que não está escrito. O Método é o manual que o agente segue.</a:t>
            </a:r>
          </a:p>
          <a:p>
            <a:r>
              <a:t>Onboarding em horas</a:t>
            </a:r>
          </a:p>
          <a:p>
            <a:r>
              <a:t>Quem chega no projeto aprende o jeito DTS lendo o Método, e não perguntando para cada pessoa.</a:t>
            </a:r>
          </a:p>
          <a:p>
            <a:r>
              <a:t>Comece amanhã →</a:t>
            </a:r>
          </a:p>
          <a:p>
            <a:r>
              <a:t>01 Escolha 1 entrega que se repete toda semana</a:t>
            </a:r>
          </a:p>
          <a:p>
            <a:r>
              <a:t>02 Procure o Método dela no FLOWS (ou crie o rascunho)</a:t>
            </a:r>
          </a:p>
          <a:p>
            <a:r>
              <a:t>03 Escreva a delegação com as 5 peças do prompt</a:t>
            </a:r>
          </a:p>
          <a:p>
            <a:r>
              <a:t>Fonte: Caderno DTS · página 04 (caminho de trabalho) e dimensão de maturidade agêntica · exemplo ilustrativo</a:t>
            </a:r>
          </a:p>
          <a:p>
            <a:r>
              <a:t>2/5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Prompt: na página 07 do caderno, as 17 pessoas que reescreveram o prompt subiram a estrutura de 63 para 87 pontos. Faltavam principalmente contexto e resultado esperado. </a:t>
            </a:r>
          </a:p>
          <a:p/>
          <a:p>
            <a:r>
              <a:t>Modelos: esta é a linha de outubro de 2026. Os nomes mudam rápido. No ChatGPT, escolha pelo modo no seletor (Instant, Thinking ou Pro). Dados de cliente só nas ferramentas homologadas pela A&amp;M.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PROMPT CERTO, MODELO CERTO</a:t>
            </a:r>
          </a:p>
          <a:p>
            <a:r>
              <a:t>Parte 2 · Como pedir melhor e com qual IA</a:t>
            </a:r>
          </a:p>
          <a:p>
            <a:r>
              <a:t>Diagnóstico IA · DTS</a:t>
            </a:r>
          </a:p>
          <a:p>
            <a:r>
              <a:t>3/5</a:t>
            </a:r>
          </a:p>
          <a:p>
            <a:r>
              <a:t>COMO MELHORAR OS PROMPTS · E QUAL IA USAR PARA CADA TRABALHO</a:t>
            </a:r>
          </a:p>
          <a:p>
            <a:r>
              <a:t>Quem reescreveu o prompt no caderno subiu de 63 para 87 pontos</a:t>
            </a:r>
          </a:p>
          <a:p>
            <a:r>
              <a:t>AS 5 PEÇAS DE UM BOM PROMPT</a:t>
            </a:r>
          </a:p>
          <a:p>
            <a:r>
              <a:t>1</a:t>
            </a:r>
          </a:p>
          <a:p>
            <a:r>
              <a:t>Objetivo</a:t>
            </a:r>
          </a:p>
          <a:p>
            <a:r>
              <a:t>o que você quer e para quê</a:t>
            </a:r>
          </a:p>
          <a:p>
            <a:r>
              <a:t>2</a:t>
            </a:r>
          </a:p>
          <a:p>
            <a:r>
              <a:t>Contexto</a:t>
            </a:r>
          </a:p>
          <a:p>
            <a:r>
              <a:t>cliente, projeto, momento, restrições</a:t>
            </a:r>
          </a:p>
          <a:p>
            <a:r>
              <a:t>3</a:t>
            </a:r>
          </a:p>
          <a:p>
            <a:r>
              <a:t>Público</a:t>
            </a:r>
          </a:p>
          <a:p>
            <a:r>
              <a:t>quem vai ler (C-level, time, cliente)</a:t>
            </a:r>
          </a:p>
          <a:p>
            <a:r>
              <a:t>4</a:t>
            </a:r>
          </a:p>
          <a:p>
            <a:r>
              <a:t>Formato</a:t>
            </a:r>
          </a:p>
          <a:p>
            <a:r>
              <a:t>tamanho, estrutura, tom, entregável</a:t>
            </a:r>
          </a:p>
          <a:p>
            <a:r>
              <a:t>5</a:t>
            </a:r>
          </a:p>
          <a:p>
            <a:r>
              <a:t>Referências</a:t>
            </a:r>
          </a:p>
          <a:p>
            <a:r>
              <a:t>exemplos, template, Método do FLOWS</a:t>
            </a:r>
          </a:p>
          <a:p>
            <a:r>
              <a:t>✗ PEDIDO</a:t>
            </a:r>
          </a:p>
          <a:p>
            <a:r>
              <a:t>“Faz um resumo dessa reunião.”</a:t>
            </a:r>
          </a:p>
          <a:p>
            <a:r>
              <a:t>✓ DELEGAÇÃO</a:t>
            </a:r>
          </a:p>
          <a:p>
            <a:r>
              <a:t>“Resuma a ata em anexo para o sponsor do cliente (público), destacando decisões e riscos (objetivo), em 5 bullets (formato), no padrão do Método Ata DTS (referência).”</a:t>
            </a:r>
          </a:p>
          <a:p>
            <a:r>
              <a:t>CHECKLIST ANTES DE ENVIAR</a:t>
            </a:r>
          </a:p>
          <a:p>
            <a:r>
              <a:t>☐ Disse para quem é e para que serve?</a:t>
            </a:r>
          </a:p>
          <a:p>
            <a:r>
              <a:t>☐ Deu um exemplo ou o Método de referência?</a:t>
            </a:r>
          </a:p>
          <a:p>
            <a:r>
              <a:t>☐ Disse como saber que ficou pronto (formato, tamanho, critério)?</a:t>
            </a:r>
          </a:p>
          <a:p>
            <a:r>
              <a:t>Dica: termine pedindo “antes de responder, me faça as perguntas que faltam”.</a:t>
            </a:r>
          </a:p>
          <a:p>
            <a:r>
              <a:t>QUAL IA PARA QUAL TRABALHO</a:t>
            </a:r>
          </a:p>
          <a:p>
            <a:r>
              <a:t>LINHA DE OUT/2026</a:t>
            </a:r>
          </a:p>
          <a:p>
            <a:r>
              <a:t>FRENTE DE TRABALHO	CLAUDE	CHATGPT</a:t>
            </a:r>
          </a:p>
          <a:p>
            <a:r>
              <a:t>🧠</a:t>
            </a:r>
          </a:p>
          <a:p>
            <a:r>
              <a:t>Pensar</a:t>
            </a:r>
          </a:p>
          <a:p>
            <a:r>
              <a:t>estratégia, diagnóstico, decisões difíceis</a:t>
            </a:r>
          </a:p>
          <a:p>
            <a:r>
              <a:t>	Opus 5.5</a:t>
            </a:r>
          </a:p>
          <a:p>
            <a:r>
              <a:t>Fable 5.1 para o problema mais difícil</a:t>
            </a:r>
          </a:p>
          <a:p>
            <a:r>
              <a:t>	Thinking</a:t>
            </a:r>
          </a:p>
          <a:p>
            <a:r>
              <a:t>Pro para análise crítica de alto risco</a:t>
            </a:r>
          </a:p>
          <a:p>
            <a:r>
              <a:t>✍️</a:t>
            </a:r>
          </a:p>
          <a:p>
            <a:r>
              <a:t>Criar</a:t>
            </a:r>
          </a:p>
          <a:p>
            <a:r>
              <a:t>textos, decks, narrativa, propostas</a:t>
            </a:r>
          </a:p>
          <a:p>
            <a:r>
              <a:t>	Sonnet 5.5</a:t>
            </a:r>
          </a:p>
          <a:p>
            <a:r>
              <a:t>com Artifacts para páginas e apresentações</a:t>
            </a:r>
          </a:p>
          <a:p>
            <a:r>
              <a:t>	Instant + imagens</a:t>
            </a:r>
          </a:p>
          <a:p>
            <a:r>
              <a:t>geração de imagem nativa no chat</a:t>
            </a:r>
          </a:p>
          <a:p>
            <a:r>
              <a:t>🔎</a:t>
            </a:r>
          </a:p>
          <a:p>
            <a:r>
              <a:t>Pesquisar</a:t>
            </a:r>
          </a:p>
          <a:p>
            <a:r>
              <a:t>mercado, benchmark, fontes</a:t>
            </a:r>
          </a:p>
          <a:p>
            <a:r>
              <a:t>	Research</a:t>
            </a:r>
          </a:p>
          <a:p>
            <a:r>
              <a:t>pesquisa com fontes citadas</a:t>
            </a:r>
          </a:p>
          <a:p>
            <a:r>
              <a:t>	Deep Research</a:t>
            </a:r>
          </a:p>
          <a:p>
            <a:r>
              <a:t>relatório longo com fontes</a:t>
            </a:r>
          </a:p>
          <a:p>
            <a:r>
              <a:t>💻</a:t>
            </a:r>
          </a:p>
          <a:p>
            <a:r>
              <a:t>Desenvolver</a:t>
            </a:r>
          </a:p>
          <a:p>
            <a:r>
              <a:t>código, protótipos, dashboards</a:t>
            </a:r>
          </a:p>
          <a:p>
            <a:r>
              <a:t>	Claude Code</a:t>
            </a:r>
          </a:p>
          <a:p>
            <a:r>
              <a:t>com Sonnet 5.5 (dia a dia) ou Opus 5.5</a:t>
            </a:r>
          </a:p>
          <a:p>
            <a:r>
              <a:t>	Codex</a:t>
            </a:r>
          </a:p>
          <a:p>
            <a:r>
              <a:t>agente de código da OpenAI</a:t>
            </a:r>
          </a:p>
          <a:p>
            <a:r>
              <a:t>🧩</a:t>
            </a:r>
          </a:p>
          <a:p>
            <a:r>
              <a:t>Construir</a:t>
            </a:r>
          </a:p>
          <a:p>
            <a:r>
              <a:t>agentes, automações, Skills</a:t>
            </a:r>
          </a:p>
          <a:p>
            <a:r>
              <a:t>	Cowork + Skills + MCP</a:t>
            </a:r>
          </a:p>
          <a:p>
            <a:r>
              <a:t>delegação de tarefas com ferramentas</a:t>
            </a:r>
          </a:p>
          <a:p>
            <a:r>
              <a:t>	Agent + GPTs</a:t>
            </a:r>
          </a:p>
          <a:p>
            <a:r>
              <a:t>modo agente e assistentes customizados</a:t>
            </a:r>
          </a:p>
          <a:p>
            <a:r>
              <a:t>⚡</a:t>
            </a:r>
          </a:p>
          <a:p>
            <a:r>
              <a:t>Velocidade</a:t>
            </a:r>
          </a:p>
          <a:p>
            <a:r>
              <a:t>triagem, resumos, volume</a:t>
            </a:r>
          </a:p>
          <a:p>
            <a:r>
              <a:t>	Haiku 5.5</a:t>
            </a:r>
          </a:p>
          <a:p>
            <a:r>
              <a:t>rápido e barato para tarefas simples</a:t>
            </a:r>
          </a:p>
          <a:p>
            <a:r>
              <a:t>	Instant</a:t>
            </a:r>
          </a:p>
          <a:p>
            <a:r>
              <a:t>resposta imediata</a:t>
            </a:r>
          </a:p>
          <a:p>
            <a:r>
              <a:t>Fonte: Caderno DTS · páginas 06 e 07 · linha de modelos Anthropic e OpenAI em out/2026 (confirme sempre no seletor da ferramenta)</a:t>
            </a:r>
          </a:p>
          <a:p>
            <a:r>
              <a:t>3/5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Direcionador: três compromissos simples, sem regras novas. </a:t>
            </a:r>
          </a:p>
          <a:p/>
          <a:p>
            <a:r>
              <a:t>Trilha de estudos: os vídeos são gratuitos, em português, e foram escolhidos em canais reconhecidos (Akita, Full Cycle, Deborah Folloni, Rodrigo do Carmo, Mário Trentim, Hashtag). Comece pelo nível da sua faixa. </a:t>
            </a:r>
          </a:p>
          <a:p/>
          <a:p>
            <a:r>
              <a:t>Aleatório: sorteia conteúdos de design, sistemas, jogos, dados e automação para ampliar o repertório.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PARA ONDE VAMOS</a:t>
            </a:r>
          </a:p>
          <a:p>
            <a:r>
              <a:t>Parte 3 · Direcionador e trilha de estudos</a:t>
            </a:r>
          </a:p>
          <a:p>
            <a:r>
              <a:t>Diagnóstico IA · DTS</a:t>
            </a:r>
          </a:p>
          <a:p>
            <a:r>
              <a:t>4/5</a:t>
            </a:r>
          </a:p>
          <a:p>
            <a:r>
              <a:t>DIRECIONADOR · FLOWS E SKILLS NO INÍCIO DE TODO PROJETO</a:t>
            </a:r>
          </a:p>
          <a:p>
            <a:r>
              <a:t>Sem regras novas: hábito, estudo e compartilhamento</a:t>
            </a:r>
          </a:p>
          <a:p>
            <a:r>
              <a:t>1</a:t>
            </a:r>
          </a:p>
          <a:p>
            <a:r>
              <a:t>Todo projeto começa pelo FLOWS</a:t>
            </a:r>
          </a:p>
          <a:p>
            <a:r>
              <a:t>No kick-off, antes do primeiro entregável:</a:t>
            </a:r>
          </a:p>
          <a:p>
            <a:r>
              <a:t>01 buscar o Método</a:t>
            </a:r>
          </a:p>
          <a:p>
            <a:r>
              <a:t>02 ativar as Skills</a:t>
            </a:r>
          </a:p>
          <a:p>
            <a:r>
              <a:t>03 adaptar ao cliente</a:t>
            </a:r>
          </a:p>
          <a:p>
            <a:r>
              <a:t>04 registrar o que é novo</a:t>
            </a:r>
          </a:p>
          <a:p>
            <a:r>
              <a:t>2</a:t>
            </a:r>
          </a:p>
          <a:p>
            <a:r>
              <a:t>Cada um estuda no seu nível</a:t>
            </a:r>
          </a:p>
          <a:p>
            <a:r>
              <a:t>Evolução → níveis 1 e 2 · Autonomia → níveis 2 e 3 · Multiplicação → níveis 3 e 4. Dois vídeos por mês e uma aplicação no projeto.</a:t>
            </a:r>
          </a:p>
          <a:p>
            <a:r>
              <a:t>3</a:t>
            </a:r>
          </a:p>
          <a:p>
            <a:r>
              <a:t>O que funcionou vira ativo</a:t>
            </a:r>
          </a:p>
          <a:p>
            <a:r>
              <a:t>Um prompt que deu certo vira Skill. Um jeito de fazer que deu certo vira Método no FLOWS. Os 10 multiplicadores ajudam a publicar.</a:t>
            </a:r>
          </a:p>
          <a:p>
            <a:r>
              <a:t>1</a:t>
            </a:r>
          </a:p>
          <a:p>
            <a:r>
              <a:t>Nível 1 · Compreender</a:t>
            </a:r>
          </a:p>
          <a:p>
            <a:r>
              <a:t>Prompt e primeiros passos</a:t>
            </a:r>
          </a:p>
          <a:p>
            <a:r>
              <a:t>LUCAS MOREIRA</a:t>
            </a:r>
          </a:p>
          <a:p>
            <a:r>
              <a:t>Engenharia de Prompt: o guia completo</a:t>
            </a:r>
          </a:p>
          <a:p>
            <a:r>
              <a:t>Prompts consistentes, tokens e versionamento</a:t>
            </a:r>
          </a:p>
          <a:p>
            <a:r>
              <a:t>SANDECO</a:t>
            </a:r>
          </a:p>
          <a:p>
            <a:r>
              <a:t>Curso ChatGPT: Engenharia de Prompts</a:t>
            </a:r>
          </a:p>
          <a:p>
            <a:r>
              <a:t>Formação de prompts e aplicações práticas</a:t>
            </a:r>
          </a:p>
          <a:p>
            <a:r>
              <a:t>RODRIGO DO CARMO</a:t>
            </a:r>
          </a:p>
          <a:p>
            <a:r>
              <a:t>Claude Cowork: curso completo para iniciantes</a:t>
            </a:r>
          </a:p>
          <a:p>
            <a:r>
              <a:t>Skills, MCP e plugins sem programar</a:t>
            </a:r>
          </a:p>
          <a:p>
            <a:r>
              <a:t>PROF. MENDES</a:t>
            </a:r>
          </a:p>
          <a:p>
            <a:r>
              <a:t>Engenharia de Prompt na prática (aula 01)</a:t>
            </a:r>
          </a:p>
          <a:p>
            <a:r>
              <a:t>Exercícios guiados, do zero</a:t>
            </a:r>
          </a:p>
          <a:p>
            <a:r>
              <a:t>Use em: atas, e-mails, resumos executivos e primeiras versões de entregáveis.</a:t>
            </a:r>
          </a:p>
          <a:p>
            <a:r>
              <a:t>2</a:t>
            </a:r>
          </a:p>
          <a:p>
            <a:r>
              <a:t>Nível 2 · Construir</a:t>
            </a:r>
          </a:p>
          <a:p>
            <a:r>
              <a:t>Claude Code, Skills e RAG</a:t>
            </a:r>
          </a:p>
          <a:p>
            <a:r>
              <a:t>RODRIGO DO CARMO</a:t>
            </a:r>
          </a:p>
          <a:p>
            <a:r>
              <a:t>Claude Code: curso completo para iniciantes</a:t>
            </a:r>
          </a:p>
          <a:p>
            <a:r>
              <a:t>Contexto, Skills, MCP e subagentes · 1h27</a:t>
            </a:r>
          </a:p>
          <a:p>
            <a:r>
              <a:t>DEBORAH FOLLONI</a:t>
            </a:r>
          </a:p>
          <a:p>
            <a:r>
              <a:t>Vibe Coding não funciona (novo workflow)</a:t>
            </a:r>
          </a:p>
          <a:p>
            <a:r>
              <a:t>Especificar, planejar e dividir tarefas</a:t>
            </a:r>
          </a:p>
          <a:p>
            <a:r>
              <a:t>FULL CYCLE</a:t>
            </a:r>
          </a:p>
          <a:p>
            <a:r>
              <a:t>Claude Code: guia completo</a:t>
            </a:r>
          </a:p>
          <a:p>
            <a:r>
              <a:t>O que todo dev precisa saber</a:t>
            </a:r>
          </a:p>
          <a:p>
            <a:r>
              <a:t>DEBORAH FOLLONI</a:t>
            </a:r>
          </a:p>
          <a:p>
            <a:r>
              <a:t>Agora eu só uso Skills</a:t>
            </a:r>
          </a:p>
          <a:p>
            <a:r>
              <a:t>Por que Skills substituem agentes soltos</a:t>
            </a:r>
          </a:p>
          <a:p>
            <a:r>
              <a:t>Use em: transformar entregas recorrentes em Skills e protótipos para o cliente.</a:t>
            </a:r>
          </a:p>
          <a:p>
            <a:r>
              <a:t>3</a:t>
            </a:r>
          </a:p>
          <a:p>
            <a:r>
              <a:t>Nível 3 · Orquestrar</a:t>
            </a:r>
          </a:p>
          <a:p>
            <a:r>
              <a:t>Agentes em produção</a:t>
            </a:r>
          </a:p>
          <a:p>
            <a:r>
              <a:t>FABIO AKITA</a:t>
            </a:r>
          </a:p>
          <a:p>
            <a:r>
              <a:t>Minha experiência com Agile Vibe Coding</a:t>
            </a:r>
          </a:p>
          <a:p>
            <a:r>
              <a:t>37 dias com agentes em produção · 58 min</a:t>
            </a:r>
          </a:p>
          <a:p>
            <a:r>
              <a:t>FULL CYCLE</a:t>
            </a:r>
          </a:p>
          <a:p>
            <a:r>
              <a:t>Criando agentes de IA com LangChain</a:t>
            </a:r>
          </a:p>
          <a:p>
            <a:r>
              <a:t>Chains, ferramentas e agentes ReAct</a:t>
            </a:r>
          </a:p>
          <a:p>
            <a:r>
              <a:t>FULL CYCLE</a:t>
            </a:r>
          </a:p>
          <a:p>
            <a:r>
              <a:t>Subagentes no Claude Code na prática</a:t>
            </a:r>
          </a:p>
          <a:p>
            <a:r>
              <a:t>Raio-X de arquitetura e dependências</a:t>
            </a:r>
          </a:p>
          <a:p>
            <a:r>
              <a:t>FULL CYCLE</a:t>
            </a:r>
          </a:p>
          <a:p>
            <a:r>
              <a:t>Agentes na prática: analisa logs e abre issues</a:t>
            </a:r>
          </a:p>
          <a:p>
            <a:r>
              <a:t>Agente com ferramentas reais</a:t>
            </a:r>
          </a:p>
          <a:p>
            <a:r>
              <a:t>Use em: engenharia reversa de sistemas, modernização e agentes internos.</a:t>
            </a:r>
          </a:p>
          <a:p>
            <a:r>
              <a:t>4</a:t>
            </a:r>
          </a:p>
          <a:p>
            <a:r>
              <a:t>Nível 4 · Consultoria</a:t>
            </a:r>
          </a:p>
          <a:p>
            <a:r>
              <a:t>PMO, processos e sistemas</a:t>
            </a:r>
          </a:p>
          <a:p>
            <a:r>
              <a:t>MÁRIO TRENTIM</a:t>
            </a:r>
          </a:p>
          <a:p>
            <a:r>
              <a:t>Workshop: gestão de projetos usando IA</a:t>
            </a:r>
          </a:p>
          <a:p>
            <a:r>
              <a:t>Escopo, riscos e cronograma com IA</a:t>
            </a:r>
          </a:p>
          <a:p>
            <a:r>
              <a:t>CURSO EM VÍDEO</a:t>
            </a:r>
          </a:p>
          <a:p>
            <a:r>
              <a:t>Planejamento e gestão de projetos com IA</a:t>
            </a:r>
          </a:p>
          <a:p>
            <a:r>
              <a:t>PMO operacional apoiado por IA</a:t>
            </a:r>
          </a:p>
          <a:p>
            <a:r>
              <a:t>HASHTAG PROGRAMAÇÃO</a:t>
            </a:r>
          </a:p>
          <a:p>
            <a:r>
              <a:t>Agente de IA com RAG (LangChain)</a:t>
            </a:r>
          </a:p>
          <a:p>
            <a:r>
              <a:t>Consultar contratos e PDFs: base para due diligence</a:t>
            </a:r>
          </a:p>
          <a:p>
            <a:r>
              <a:t>AFONSO LOPES</a:t>
            </a:r>
          </a:p>
          <a:p>
            <a:r>
              <a:t>Agentes e automação para empresas (canal)</a:t>
            </a:r>
          </a:p>
          <a:p>
            <a:r>
              <a:t>Levantamento, proposta e implantação no cliente</a:t>
            </a:r>
          </a:p>
          <a:p>
            <a:r>
              <a:t>Use em: PMO, relatórios de status, riscos, processos e diligências.</a:t>
            </a:r>
          </a:p>
          <a:p>
            <a:r>
              <a:t>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AUTOMAÇÃO</a:t>
            </a:r>
          </a:p>
          <a:p>
            <a:r>
              <a:t>▶ Curso completo de Figma: UX/UI do básico ao avançado</a:t>
            </a:r>
          </a:p>
          <a:p>
            <a:r>
              <a:t>Categoria Design · role de novo para outra sugestão</a:t>
            </a:r>
          </a:p>
          <a:p>
            <a:r>
              <a:t>Curadoria: vídeos gratuitos em PT-BR no YouTube · links verificados em out/2026</a:t>
            </a:r>
          </a:p>
          <a:p>
            <a:r>
              <a:t>4/5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Página 07 do caderno, o Retrato Falado. 23 pessoas escreveram um prompt de caricatura e só 14 marcaram quem retrataram. As outras 11 foram identificadas pelas características descritas, com indicação de certeza, provável ou palpite. Passe o mouse em cada caricatura para ver quem desenhou.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MURAL DO RETRATO FALADO</a:t>
            </a:r>
          </a:p>
          <a:p>
            <a:r>
              <a:t>Bônus · Página 07 do caderno</a:t>
            </a:r>
          </a:p>
          <a:p>
            <a:r>
              <a:t>Diagnóstico IA · DTS</a:t>
            </a:r>
          </a:p>
          <a:p>
            <a:r>
              <a:t>5/5</a:t>
            </a:r>
          </a:p>
          <a:p>
            <a:r>
              <a:t>RETRATO FALADO DTS · QUEM DESENHOU QUEM</a:t>
            </a:r>
          </a:p>
          <a:p>
            <a:r>
              <a:t>Passe o mouse em cada caricatura</a:t>
            </a:r>
          </a:p>
          <a:p>
            <a:r>
              <a:t>5× retratada</a:t>
            </a:r>
          </a:p>
          <a:p>
            <a:r>
              <a:t>Ana Paula Costa</a:t>
            </a:r>
          </a:p>
          <a:p>
            <a:r>
              <a:t>Volume de cabelo: nível Multiplicação</a:t>
            </a:r>
          </a:p>
          <a:p>
            <a:r>
              <a:t>4× retratado</a:t>
            </a:r>
          </a:p>
          <a:p>
            <a:r>
              <a:t>18 PRO</a:t>
            </a:r>
          </a:p>
          <a:p>
            <a:r>
              <a:t>Guilherme Antonialli</a:t>
            </a:r>
          </a:p>
          <a:p>
            <a:r>
              <a:t>Johnny Bravo de Tupã, com lulu e iPhone 18 no bolso</a:t>
            </a:r>
          </a:p>
          <a:p>
            <a:r>
              <a:t>3× retratado</a:t>
            </a:r>
          </a:p>
          <a:p>
            <a:r>
              <a:t>Thiago Vieira</a:t>
            </a:r>
          </a:p>
          <a:p>
            <a:r>
              <a:t>Já chega com o deck pronto</a:t>
            </a:r>
          </a:p>
          <a:p>
            <a:r>
              <a:t>3× retratado</a:t>
            </a:r>
          </a:p>
          <a:p>
            <a:r>
              <a:t>♪</a:t>
            </a:r>
          </a:p>
          <a:p>
            <a:r>
              <a:t>♫</a:t>
            </a:r>
          </a:p>
          <a:p>
            <a:r>
              <a:t>♪</a:t>
            </a:r>
          </a:p>
          <a:p>
            <a:r>
              <a:t>João Lopes</a:t>
            </a:r>
          </a:p>
          <a:p>
            <a:r>
              <a:t>O cantor oficial de DTS: pagode no Tio Sam</a:t>
            </a:r>
          </a:p>
          <a:p>
            <a:r>
              <a:t>3× retratado</a:t>
            </a:r>
          </a:p>
          <a:p>
            <a:r>
              <a:t>SELFIE</a:t>
            </a:r>
          </a:p>
          <a:p>
            <a:r>
              <a:t>Marcos Massao</a:t>
            </a:r>
          </a:p>
          <a:p>
            <a:r>
              <a:t>Se autorretratou. Duas vezes.</a:t>
            </a:r>
          </a:p>
          <a:p>
            <a:r>
              <a:t>2× retratada</a:t>
            </a:r>
          </a:p>
          <a:p>
            <a:r>
              <a:t>mangá!</a:t>
            </a:r>
          </a:p>
          <a:p>
            <a:r>
              <a:t>Talita Galvão</a:t>
            </a:r>
          </a:p>
          <a:p>
            <a:r>
              <a:t>Modo mangá: ativado</a:t>
            </a:r>
          </a:p>
          <a:p>
            <a:r>
              <a:t>2× retratado</a:t>
            </a:r>
          </a:p>
          <a:p>
            <a:r>
              <a:t>?</a:t>
            </a:r>
          </a:p>
          <a:p>
            <a:r>
              <a:t>Alexandre Domingues</a:t>
            </a:r>
          </a:p>
          <a:p>
            <a:r>
              <a:t>O retrato que ficou em branco</a:t>
            </a:r>
          </a:p>
          <a:p>
            <a:r>
              <a:t>1× retratado</a:t>
            </a:r>
          </a:p>
          <a:p>
            <a:r>
              <a:t>DTS</a:t>
            </a:r>
          </a:p>
          <a:p>
            <a:r>
              <a:t>caderno</a:t>
            </a:r>
          </a:p>
          <a:p>
            <a:r>
              <a:t>Victor Vitorino</a:t>
            </a:r>
          </a:p>
          <a:p>
            <a:r>
              <a:t>Expressão “séria”, dono do caderno</a:t>
            </a:r>
          </a:p>
          <a:p>
            <a:r>
              <a:t>1× retratada</a:t>
            </a:r>
          </a:p>
          <a:p>
            <a:r>
              <a:t>♪</a:t>
            </a:r>
          </a:p>
          <a:p>
            <a:r>
              <a:t>Laís Velame</a:t>
            </a:r>
          </a:p>
          <a:p>
            <a:r>
              <a:t>Fora do mural, dentro do samba rock</a:t>
            </a:r>
          </a:p>
          <a:p>
            <a:r>
              <a:t>23</a:t>
            </a:r>
          </a:p>
          <a:p>
            <a:r>
              <a:t>retratos falados</a:t>
            </a:r>
          </a:p>
          <a:p>
            <a:r>
              <a:t>escritos</a:t>
            </a:r>
          </a:p>
          <a:p>
            <a:r>
              <a:t>17 reescreveram e a estrutura do prompt subiu +24 pts</a:t>
            </a:r>
          </a:p>
          <a:p>
            <a:r>
              <a:t>INVESTIGAÇÃO · QUEM NÃO MARCOU E DESENHOU QUEM</a:t>
            </a:r>
          </a:p>
          <a:p>
            <a:r>
              <a:t>Alexandre Domingues</a:t>
            </a:r>
          </a:p>
          <a:p>
            <a:r>
              <a:t>→</a:t>
            </a:r>
          </a:p>
          <a:p>
            <a:r>
              <a:t>Victor Vitorino · citou “Victor”</a:t>
            </a:r>
          </a:p>
          <a:p>
            <a:r>
              <a:t>CERTEZA</a:t>
            </a:r>
          </a:p>
          <a:p>
            <a:r>
              <a:t>Abner Barreto</a:t>
            </a:r>
          </a:p>
          <a:p>
            <a:r>
              <a:t>→</a:t>
            </a:r>
          </a:p>
          <a:p>
            <a:r>
              <a:t>Laís Velame (fora do mural) · citou “a lais”</a:t>
            </a:r>
          </a:p>
          <a:p>
            <a:r>
              <a:t>CERTEZA</a:t>
            </a:r>
          </a:p>
          <a:p>
            <a:r>
              <a:t>Thais Correia Rosa</a:t>
            </a:r>
          </a:p>
          <a:p>
            <a:r>
              <a:t>→</a:t>
            </a:r>
          </a:p>
          <a:p>
            <a:r>
              <a:t>Marcos Massao · citou no 2º rascunho</a:t>
            </a:r>
          </a:p>
          <a:p>
            <a:r>
              <a:t>CERTEZA</a:t>
            </a:r>
          </a:p>
          <a:p>
            <a:r>
              <a:t>Julio Feijo</a:t>
            </a:r>
          </a:p>
          <a:p>
            <a:r>
              <a:t>→</a:t>
            </a:r>
          </a:p>
          <a:p>
            <a:r>
              <a:t>Ana Paula Costa · ondas + mechas caramelo</a:t>
            </a:r>
          </a:p>
          <a:p>
            <a:r>
              <a:t>CERTEZA</a:t>
            </a:r>
          </a:p>
          <a:p>
            <a:r>
              <a:t>Natalia Topa</a:t>
            </a:r>
          </a:p>
          <a:p>
            <a:r>
              <a:t>→</a:t>
            </a:r>
          </a:p>
          <a:p>
            <a:r>
              <a:t>Thiago Vieira · óculos + barba + sorrisão</a:t>
            </a:r>
          </a:p>
          <a:p>
            <a:r>
              <a:t>PROVÁVEL</a:t>
            </a:r>
          </a:p>
          <a:p>
            <a:r>
              <a:t>Vinicius de Sousa</a:t>
            </a:r>
          </a:p>
          <a:p>
            <a:r>
              <a:t>→</a:t>
            </a:r>
          </a:p>
          <a:p>
            <a:r>
              <a:t>Ana Paula Costa · sorriso largo + maçãs</a:t>
            </a:r>
          </a:p>
          <a:p>
            <a:r>
              <a:t>PROVÁVEL</a:t>
            </a:r>
          </a:p>
          <a:p>
            <a:r>
              <a:t>Ana Carolina Godeia</a:t>
            </a:r>
          </a:p>
          <a:p>
            <a:r>
              <a:t>→</a:t>
            </a:r>
          </a:p>
          <a:p>
            <a:r>
              <a:t>Talita Galvão · cabelo liso, repartido</a:t>
            </a:r>
          </a:p>
          <a:p>
            <a:r>
              <a:t>PROVÁVEL</a:t>
            </a:r>
          </a:p>
          <a:p>
            <a:r>
              <a:t>Guilherme Tanaka</a:t>
            </a:r>
          </a:p>
          <a:p>
            <a:r>
              <a:t>→</a:t>
            </a:r>
          </a:p>
          <a:p>
            <a:r>
              <a:t>Guilherme Antonialli · barba e cabelo pretos</a:t>
            </a:r>
          </a:p>
          <a:p>
            <a:r>
              <a:t>PALPITE</a:t>
            </a:r>
          </a:p>
          <a:p>
            <a:r>
              <a:t>Rodrigo Brea</a:t>
            </a:r>
          </a:p>
          <a:p>
            <a:r>
              <a:t>→</a:t>
            </a:r>
          </a:p>
          <a:p>
            <a:r>
              <a:t>Guilherme Antonialli · rosto redondo, sobrancelhas</a:t>
            </a:r>
          </a:p>
          <a:p>
            <a:r>
              <a:t>PALPITE</a:t>
            </a:r>
          </a:p>
          <a:p>
            <a:r>
              <a:t>Pedro H. Ramos</a:t>
            </a:r>
          </a:p>
          <a:p>
            <a:r>
              <a:t>→</a:t>
            </a:r>
          </a:p>
          <a:p>
            <a:r>
              <a:t>Alexandre Domingues · rosto fino, magro</a:t>
            </a:r>
          </a:p>
          <a:p>
            <a:r>
              <a:t>PALPITE</a:t>
            </a:r>
          </a:p>
          <a:p>
            <a:r>
              <a:t>Pedro Lanzetta</a:t>
            </a:r>
          </a:p>
          <a:p>
            <a:r>
              <a:t>→</a:t>
            </a:r>
          </a:p>
          <a:p>
            <a:r>
              <a:t>não bate com o mural · autorretrato? 😄</a:t>
            </a:r>
          </a:p>
          <a:p>
            <a:r>
              <a:t>PALPITE</a:t>
            </a:r>
          </a:p>
          <a:p>
            <a:r>
              <a:t>Fonte: prompts da página 07 do caderno · caricaturas geradas a partir das descrições do time</a:t>
            </a:r>
          </a:p>
          <a:p>
            <a:r>
              <a:t>5/5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www.youtube.com/watch?v=1VDcke66TRE" TargetMode="External"/><Relationship Id="rId4" Type="http://schemas.openxmlformats.org/officeDocument/2006/relationships/hyperlink" Target="https://www.youtube.com/watch?v=M0buLwTSHq0" TargetMode="External"/><Relationship Id="rId5" Type="http://schemas.openxmlformats.org/officeDocument/2006/relationships/hyperlink" Target="https://www.youtube.com/watch?v=pyb3G0z1m7c" TargetMode="External"/><Relationship Id="rId6" Type="http://schemas.openxmlformats.org/officeDocument/2006/relationships/hyperlink" Target="https://www.youtube.com/watch?v=XcY8fJDNyBY" TargetMode="External"/><Relationship Id="rId7" Type="http://schemas.openxmlformats.org/officeDocument/2006/relationships/hyperlink" Target="https://www.youtube.com/watch?v=I5RLz75eKU4" TargetMode="External"/><Relationship Id="rId8" Type="http://schemas.openxmlformats.org/officeDocument/2006/relationships/hyperlink" Target="https://www.youtube.com/watch?v=Ea5yaWGqoHQ" TargetMode="External"/><Relationship Id="rId9" Type="http://schemas.openxmlformats.org/officeDocument/2006/relationships/hyperlink" Target="https://www.youtube.com/watch?v=NH_NtrN2BEs" TargetMode="External"/><Relationship Id="rId10" Type="http://schemas.openxmlformats.org/officeDocument/2006/relationships/hyperlink" Target="https://www.youtube.com/watch?v=h_l8wCr7M2Q" TargetMode="External"/><Relationship Id="rId11" Type="http://schemas.openxmlformats.org/officeDocument/2006/relationships/hyperlink" Target="https://www.youtube.com/watch?v=U3bZavG8qQY" TargetMode="External"/><Relationship Id="rId12" Type="http://schemas.openxmlformats.org/officeDocument/2006/relationships/hyperlink" Target="https://www.youtube.com/watch?v=jnEmWGmXx8Y" TargetMode="External"/><Relationship Id="rId13" Type="http://schemas.openxmlformats.org/officeDocument/2006/relationships/hyperlink" Target="https://www.youtube.com/watch?v=YtFNz1DtDdo" TargetMode="External"/><Relationship Id="rId14" Type="http://schemas.openxmlformats.org/officeDocument/2006/relationships/hyperlink" Target="https://www.youtube.com/watch?v=hnTX9W0YGAE" TargetMode="External"/><Relationship Id="rId15" Type="http://schemas.openxmlformats.org/officeDocument/2006/relationships/hyperlink" Target="https://www.youtube.com/watch?v=9648l3d4HFc" TargetMode="External"/><Relationship Id="rId16" Type="http://schemas.openxmlformats.org/officeDocument/2006/relationships/hyperlink" Target="https://www.youtube.com/watch?v=YGa4elddiug" TargetMode="External"/><Relationship Id="rId17" Type="http://schemas.openxmlformats.org/officeDocument/2006/relationships/hyperlink" Target="https://www.youtube.com/watch?v=0M8iO5ykY-E" TargetMode="External"/><Relationship Id="rId18" Type="http://schemas.openxmlformats.org/officeDocument/2006/relationships/hyperlink" Target="https://www.youtube.com/@afonsoautomacoes_ia/videos" TargetMode="External"/><Relationship Id="rId19" Type="http://schemas.openxmlformats.org/officeDocument/2006/relationships/hyperlink" Target="https://www.youtube.com/watch?v=XCIeljTsCVI" TargetMode="External"/><Relationship Id="rId2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12420" y="235839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420" y="288476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12420" y="3411140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12420" y="406765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3276600" y="235839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3276600" y="288476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3276600" y="341114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3276600" y="393751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240780" y="235839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6240780" y="288476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6240780" y="341114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6240780" y="3937515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9204960" y="235839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r:id="rId16"/>
          </p:cNvPr>
          <p:cNvSpPr/>
          <p:nvPr/>
        </p:nvSpPr>
        <p:spPr>
          <a:xfrm>
            <a:off x="9204960" y="288476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hlinkClick r:id="rId17"/>
          </p:cNvPr>
          <p:cNvSpPr/>
          <p:nvPr/>
        </p:nvSpPr>
        <p:spPr>
          <a:xfrm>
            <a:off x="9204960" y="341114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r:id="rId18"/>
          </p:cNvPr>
          <p:cNvSpPr/>
          <p:nvPr/>
        </p:nvSpPr>
        <p:spPr>
          <a:xfrm>
            <a:off x="9204960" y="393751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9"/>
          </p:cNvPr>
          <p:cNvSpPr/>
          <p:nvPr/>
        </p:nvSpPr>
        <p:spPr>
          <a:xfrm>
            <a:off x="1429464" y="6301740"/>
            <a:ext cx="8476535" cy="152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de Nivelamento IA · DTS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