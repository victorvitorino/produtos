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Capa da devolutiva do Caderno de Nivelamento DTS. O visual segue o caderno que o time respondeu: página azul à esquerda e papel quadriculado à direita. Clique em um item do sumário para ir direto à página.</a:t>
            </a:r>
          </a:p>
          <a:p/>
          <a:p>
            <a:r>
              <a:t>— Conteúdo —</a:t>
            </a:r>
          </a:p>
          <a:p>
            <a:r>
              <a:t>ALVAREZ &amp; MARSAL · DTS · NIVELAMENTO IA</a:t>
            </a:r>
          </a:p>
          <a:p>
            <a:r>
              <a:t>Caderno de Nivelamento DTS</a:t>
            </a:r>
          </a:p>
          <a:p>
            <a:r>
              <a:t>Resultados e próximos passos</a:t>
            </a:r>
          </a:p>
          <a:p>
            <a:r>
              <a:t>25 cadernos concluídos. O que descobrimos sobre como o time usa IA hoje, o que falta para delegar a agentes e por onde seguimos a partir de agora.</a:t>
            </a:r>
          </a:p>
          <a:p>
            <a:r>
              <a:t>ALVAREZ &amp; MARSAL</a:t>
            </a:r>
          </a:p>
          <a:p>
            <a:r>
              <a:t>DIGITAL &amp; TECHNOLOGY SERVICES</a:t>
            </a:r>
          </a:p>
          <a:p>
            <a:r>
              <a:t>Antes de começar: isto não é um ranking. É uma fotografia do time para decidir juntos os próximos passos.</a:t>
            </a:r>
          </a:p>
          <a:p>
            <a:r>
              <a:t>01</a:t>
            </a:r>
          </a:p>
          <a:p>
            <a:r>
              <a:t>Resultados</a:t>
            </a:r>
          </a:p>
          <a:p>
            <a:r>
              <a:t>onde estamos</a:t>
            </a:r>
          </a:p>
          <a:p>
            <a:r>
              <a:t>02</a:t>
            </a:r>
          </a:p>
          <a:p>
            <a:r>
              <a:t>Delegar</a:t>
            </a:r>
          </a:p>
          <a:p>
            <a:r>
              <a:t>pedir × delegar</a:t>
            </a:r>
          </a:p>
          <a:p>
            <a:r>
              <a:t>03</a:t>
            </a:r>
          </a:p>
          <a:p>
            <a:r>
              <a:t>Hiper performance</a:t>
            </a:r>
          </a:p>
          <a:p>
            <a:r>
              <a:t>capacidade e ROI</a:t>
            </a:r>
          </a:p>
          <a:p>
            <a:r>
              <a:t>04</a:t>
            </a:r>
          </a:p>
          <a:p>
            <a:r>
              <a:t>Ferramentas e modelos</a:t>
            </a:r>
          </a:p>
          <a:p>
            <a:r>
              <a:t>qual usar e quanto consome</a:t>
            </a:r>
          </a:p>
          <a:p>
            <a:r>
              <a:t>05</a:t>
            </a:r>
          </a:p>
          <a:p>
            <a:r>
              <a:t>Trilha livre</a:t>
            </a:r>
          </a:p>
          <a:p>
            <a:r>
              <a:t>estude no seu ritmo</a:t>
            </a:r>
          </a:p>
          <a:p>
            <a:r>
              <a:t>06</a:t>
            </a:r>
          </a:p>
          <a:p>
            <a:r>
              <a:t>Mural</a:t>
            </a:r>
          </a:p>
          <a:p>
            <a:r>
              <a:t>retrato falado</a:t>
            </a:r>
          </a:p>
          <a:p>
            <a:r>
              <a:t>DOCUMENTO PARA DISCUSSÃO · OUT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Índice consolidado: combina o que cada pessoa disse fazer com o que ela demonstrou nas 6 brincadeiras do caderno. As brincadeiras pesam mais. </a:t>
            </a:r>
          </a:p>
          <a:p/>
          <a:p>
            <a:r>
              <a:t>Adoção: considera os 33 convidados da lista do encontro. </a:t>
            </a:r>
          </a:p>
          <a:p/>
          <a:p>
            <a:r>
              <a:t>Faixas: Ponto de partida (0–20), Exploração (21–40), Evolução (41–60), Autonomia (61–80) e Multiplicação (81–100).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RESULTADOS</a:t>
            </a:r>
          </a:p>
          <a:p>
            <a:r>
              <a:t>Parte 1 · Onde DTS está hoje</a:t>
            </a:r>
          </a:p>
          <a:p>
            <a:r>
              <a:t>Diagnóstico IA · DTS</a:t>
            </a:r>
          </a:p>
          <a:p>
            <a:r>
              <a:t>1/6</a:t>
            </a:r>
          </a:p>
          <a:p>
            <a:r>
              <a:t>RESULTADO DO CADERNO · ONDE ESTAMOS</a:t>
            </a:r>
          </a:p>
          <a:p>
            <a:r>
              <a:t>25 cadernos concluídos · 33 convidados</a:t>
            </a:r>
          </a:p>
          <a:p>
            <a:r>
              <a:t>ÍNDICE CONSOLIDADO DTS</a:t>
            </a:r>
          </a:p>
          <a:p>
            <a:r>
              <a:t>FAIXA AUTONOMIA</a:t>
            </a:r>
          </a:p>
          <a:p>
            <a:r>
              <a:t>78,6%</a:t>
            </a:r>
          </a:p>
          <a:p>
            <a:r>
              <a:t>O time já usa IA com independência.</a:t>
            </a:r>
          </a:p>
          <a:p>
            <a:r>
              <a:t>Usa Claude, FLOWS e Skills no dia a dia sem depender de ajuda. O próximo degrau, Multiplicação (81%+), é transformar esse uso em Skills, Métodos e agentes que o time inteiro reutiliza.</a:t>
            </a:r>
          </a:p>
          <a:p>
            <a:r>
              <a:t>DTS 78,6</a:t>
            </a:r>
          </a:p>
          <a:p>
            <a:r>
              <a:t>0</a:t>
            </a:r>
          </a:p>
          <a:p>
            <a:r>
              <a:t>20</a:t>
            </a:r>
          </a:p>
          <a:p>
            <a:r>
              <a:t>40</a:t>
            </a:r>
          </a:p>
          <a:p>
            <a:r>
              <a:t>60</a:t>
            </a:r>
          </a:p>
          <a:p>
            <a:r>
              <a:t>80</a:t>
            </a:r>
          </a:p>
          <a:p>
            <a:r>
              <a:t>100</a:t>
            </a:r>
          </a:p>
          <a:p>
            <a:r>
              <a:t>Termômetro do time: cada traço é uma pessoa · laranja = já em Multiplicação</a:t>
            </a:r>
          </a:p>
          <a:p>
            <a:r>
              <a:t>ADOÇÃO DO CADERNO</a:t>
            </a:r>
          </a:p>
          <a:p>
            <a:r>
              <a:t>8 PESSOAS FORA</a:t>
            </a:r>
          </a:p>
          <a:p>
            <a:r>
              <a:t>Convidados</a:t>
            </a:r>
          </a:p>
          <a:p>
            <a:r>
              <a:t>33</a:t>
            </a:r>
          </a:p>
          <a:p>
            <a:r>
              <a:t>100%</a:t>
            </a:r>
          </a:p>
          <a:p>
            <a:r>
              <a:t>Iniciaram</a:t>
            </a:r>
          </a:p>
          <a:p>
            <a:r>
              <a:t>29</a:t>
            </a:r>
          </a:p>
          <a:p>
            <a:r>
              <a:t>88%</a:t>
            </a:r>
          </a:p>
          <a:p>
            <a:r>
              <a:t>Concluíram</a:t>
            </a:r>
          </a:p>
          <a:p>
            <a:r>
              <a:t>25</a:t>
            </a:r>
          </a:p>
          <a:p>
            <a:r>
              <a:t>76%</a:t>
            </a:r>
          </a:p>
          <a:p>
            <a:r>
              <a:t>Não concluíram</a:t>
            </a:r>
          </a:p>
          <a:p>
            <a:r>
              <a:t>8</a:t>
            </a:r>
          </a:p>
          <a:p>
            <a:r>
              <a:t>24%</a:t>
            </a:r>
          </a:p>
          <a:p>
            <a:r>
              <a:t>4</a:t>
            </a:r>
          </a:p>
          <a:p>
            <a:r>
              <a:t>pararam no meio</a:t>
            </a:r>
          </a:p>
          <a:p>
            <a:r>
              <a:t>4</a:t>
            </a:r>
          </a:p>
          <a:p>
            <a:r>
              <a:t>nem abriram</a:t>
            </a:r>
          </a:p>
          <a:p>
            <a:r>
              <a:t>85%</a:t>
            </a:r>
          </a:p>
          <a:p>
            <a:r>
              <a:t>dos que ignoraram o convite concluíram</a:t>
            </a:r>
          </a:p>
          <a:p>
            <a:r>
              <a:t>ONDE DTS SE ENCONTRA</a:t>
            </a:r>
          </a:p>
          <a:p>
            <a:r>
              <a:t>pessoas por faixa</a:t>
            </a:r>
          </a:p>
          <a:p>
            <a:r>
              <a:t>0</a:t>
            </a:r>
          </a:p>
          <a:p>
            <a:r>
              <a:t>PONTO DE PARTIDA</a:t>
            </a:r>
          </a:p>
          <a:p>
            <a:r>
              <a:t>0–20</a:t>
            </a:r>
          </a:p>
          <a:p>
            <a:r>
              <a:t>0</a:t>
            </a:r>
          </a:p>
          <a:p>
            <a:r>
              <a:t>EXPLORAÇÃO</a:t>
            </a:r>
          </a:p>
          <a:p>
            <a:r>
              <a:t>21–40</a:t>
            </a:r>
          </a:p>
          <a:p>
            <a:r>
              <a:t>1</a:t>
            </a:r>
          </a:p>
          <a:p>
            <a:r>
              <a:t>EVOLUÇÃO</a:t>
            </a:r>
          </a:p>
          <a:p>
            <a:r>
              <a:t>41–60</a:t>
            </a:r>
          </a:p>
          <a:p>
            <a:r>
              <a:t>DTS · 78,6</a:t>
            </a:r>
          </a:p>
          <a:p>
            <a:r>
              <a:t>14</a:t>
            </a:r>
          </a:p>
          <a:p>
            <a:r>
              <a:t>AUTONOMIA</a:t>
            </a:r>
          </a:p>
          <a:p>
            <a:r>
              <a:t>61–80</a:t>
            </a:r>
          </a:p>
          <a:p>
            <a:r>
              <a:t>PRÓXIMO DEGRAU</a:t>
            </a:r>
          </a:p>
          <a:p>
            <a:r>
              <a:t>10</a:t>
            </a:r>
          </a:p>
          <a:p>
            <a:r>
              <a:t>MULTIPLICAÇÃO</a:t>
            </a:r>
          </a:p>
          <a:p>
            <a:r>
              <a:t>81–100</a:t>
            </a:r>
          </a:p>
          <a:p>
            <a:r>
              <a:t>24 de 25 pessoas já estão em Autonomia ou Multiplicação. Ninguém ficou nas duas primeiras faixas.</a:t>
            </a:r>
          </a:p>
          <a:p>
            <a:r>
              <a:t>ACHADO Nº 1 · O MAIS IMPORTANTE</a:t>
            </a:r>
          </a:p>
          <a:p>
            <a:r>
              <a:t>O time sabe mais do que acredita saber.</a:t>
            </a:r>
          </a:p>
          <a:p>
            <a:r>
              <a:t>21 de 25 pessoas demonstraram nas brincadeiras mais do que declararam no início. A distância média é de 20 pontos.</a:t>
            </a:r>
          </a:p>
          <a:p>
            <a:r>
              <a:t>Ou seja, o desafio de DTS não é capacidade, é confiança e hábito. Quem se subestima não compartilha, não vira referência e não propõe IA para o cliente. Por isso o próximo passo é prática visível (FLOWS e Skills em todo projeto), e não mais teoria.</a:t>
            </a:r>
          </a:p>
          <a:p>
            <a:r>
              <a:t>64,7</a:t>
            </a:r>
          </a:p>
          <a:p>
            <a:r>
              <a:t>DECLARADO</a:t>
            </a:r>
          </a:p>
          <a:p>
            <a:r>
              <a:t>+20 →</a:t>
            </a:r>
          </a:p>
          <a:p>
            <a:r>
              <a:t>84,6</a:t>
            </a:r>
          </a:p>
          <a:p>
            <a:r>
              <a:t>DEMONSTRADO</a:t>
            </a:r>
          </a:p>
          <a:p>
            <a:r>
              <a:t>ONDE A DISTÂNCIA É MAIOR</a:t>
            </a:r>
          </a:p>
          <a:p>
            <a:r>
              <a:t>Skills &amp; Métodos</a:t>
            </a:r>
          </a:p>
          <a:p>
            <a:r>
              <a:t>+35</a:t>
            </a:r>
          </a:p>
          <a:p>
            <a:r>
              <a:t>Reutilização</a:t>
            </a:r>
          </a:p>
          <a:p>
            <a:r>
              <a:t>+20</a:t>
            </a:r>
          </a:p>
          <a:p>
            <a:r>
              <a:t>Criar &amp; compartilhar</a:t>
            </a:r>
          </a:p>
          <a:p>
            <a:r>
              <a:t>+13</a:t>
            </a:r>
          </a:p>
          <a:p>
            <a:r>
              <a:t>Só 4 pessoas se avaliaram acima do que demonstraram.</a:t>
            </a:r>
          </a:p>
          <a:p>
            <a:r>
              <a:t>Fonte: Caderno de Nivelamento DTS (25 concluídos) · lista de convidados do encontro DTS (33)</a:t>
            </a:r>
          </a:p>
          <a:p>
            <a:r>
              <a:t>1/6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Maturidade agêntica foi a dimensão mais baixa do caderno (52). Na página 04, 72% seguiram o caminho “FLOWS → verificar → adaptar” e só 1 pessoa encadeou Método → Skill → Agente. </a:t>
            </a:r>
          </a:p>
          <a:p/>
          <a:p>
            <a:r>
              <a:t>Exemplo: a proposta comercial é ilustrativa. Os nomes do Método e da Skill são sugestões de como organizar no FLOWS. </a:t>
            </a:r>
          </a:p>
          <a:p/>
          <a:p>
            <a:r>
              <a:t>Gráfico: estimativa ilustrativa para uma proposta média de DTS. O ponto central é que IA sem Método ganha tempo, mas perde padrão.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DO PEDIDO À DELEGAÇÃO</a:t>
            </a:r>
          </a:p>
          <a:p>
            <a:r>
              <a:t>Parte 2 · O que falta para o próximo degrau</a:t>
            </a:r>
          </a:p>
          <a:p>
            <a:r>
              <a:t>Diagnóstico IA · DTS</a:t>
            </a:r>
          </a:p>
          <a:p>
            <a:r>
              <a:t>2/6</a:t>
            </a:r>
          </a:p>
          <a:p>
            <a:r>
              <a:t>SABEMOS PEDIR · AINDA NÃO SABEMOS DELEGAR</a:t>
            </a:r>
          </a:p>
          <a:p>
            <a:r>
              <a:t>Maturidade agêntica: 52 · a dimensão mais baixa do caderno</a:t>
            </a:r>
          </a:p>
          <a:p>
            <a:r>
              <a:t>🗨️ Pedir</a:t>
            </a:r>
          </a:p>
          <a:p>
            <a:r>
              <a:t>HOJE</a:t>
            </a:r>
          </a:p>
          <a:p>
            <a:r>
              <a:t>Uma pergunta por vez. A IA responde e você faz o resto: copia, cola, formata e confere. Toda vez começa do zero.</a:t>
            </a:r>
          </a:p>
          <a:p>
            <a:r>
              <a:t>🤝 Delegar</a:t>
            </a:r>
          </a:p>
          <a:p>
            <a:r>
              <a:t>PRÓXIMO DEGRAU</a:t>
            </a:r>
          </a:p>
          <a:p>
            <a:r>
              <a:t>Você entrega objetivo, contexto e critério de pronto. O Claude segue um Método e uma Skill, executa as etapas e você audita.</a:t>
            </a:r>
          </a:p>
          <a:p>
            <a:r>
              <a:t>🚀 Regra do kick-off</a:t>
            </a:r>
          </a:p>
          <a:p>
            <a:r>
              <a:t>Todo projeto começa com FLOWS + Skills:</a:t>
            </a:r>
          </a:p>
          <a:p>
            <a:r>
              <a:t>01 achar o Método</a:t>
            </a:r>
          </a:p>
          <a:p>
            <a:r>
              <a:t>02 ativar Skills</a:t>
            </a:r>
          </a:p>
          <a:p>
            <a:r>
              <a:t>03 adaptar</a:t>
            </a:r>
          </a:p>
          <a:p>
            <a:r>
              <a:t>04 registrar o novo</a:t>
            </a:r>
          </a:p>
          <a:p>
            <a:r>
              <a:t>Exemplo · proposta comercial com a Skill proposta-am de 3 dias para meio dia, no padrão A&amp;M</a:t>
            </a:r>
          </a:p>
          <a:p>
            <a:r>
              <a:t>1 · MÉTODO (FLOWS)</a:t>
            </a:r>
          </a:p>
          <a:p>
            <a:r>
              <a:t>A estrutura</a:t>
            </a:r>
          </a:p>
          <a:p>
            <a:r>
              <a:t>Contexto do cliente → diagnóstico → abordagem → fases e cronograma → equipe → honorários → próximos passos.</a:t>
            </a:r>
          </a:p>
          <a:p>
            <a:r>
              <a:t>FLOWS › Comercial › Proposta DTS</a:t>
            </a:r>
          </a:p>
          <a:p>
            <a:r>
              <a:t>2 · SKILL</a:t>
            </a:r>
          </a:p>
          <a:p>
            <a:r>
              <a:t>O padrão A&amp;M</a:t>
            </a:r>
          </a:p>
          <a:p>
            <a:r>
              <a:t>Template visual, tom executivo, cases parecidos, tabela de perfis e regra “sempre 3 opções de escopo”.</a:t>
            </a:r>
          </a:p>
          <a:p>
            <a:r>
              <a:t>skill: proposta-am</a:t>
            </a:r>
          </a:p>
          <a:p>
            <a:r>
              <a:t>3 · DELEGAÇÃO</a:t>
            </a:r>
          </a:p>
          <a:p>
            <a:r>
              <a:t>O pedido certo</a:t>
            </a:r>
          </a:p>
          <a:p>
            <a:r>
              <a:t>“Use a skill proposta-am. A partir da transcrição da reunião e do RFP em anexo, monte a proposta para o CFO com 3 opções de escopo e me liste as dúvidas antes de precificar.”</a:t>
            </a:r>
          </a:p>
          <a:p>
            <a:r>
              <a:t>4 · VOCÊ</a:t>
            </a:r>
          </a:p>
          <a:p>
            <a:r>
              <a:t>Audita e decide</a:t>
            </a:r>
          </a:p>
          <a:p>
            <a:r>
              <a:t>Revisa preço, escopo, riscos e a mensagem para o cliente. O julgamento continua sendo seu.</a:t>
            </a:r>
          </a:p>
          <a:p>
            <a:r>
              <a:t>4h de revisão · e não 3 dias</a:t>
            </a:r>
          </a:p>
          <a:p>
            <a:r>
              <a:t>POR QUE USAR MÉTODOS</a:t>
            </a:r>
          </a:p>
          <a:p>
            <a:r>
              <a:t>13 de 25 usam pouco ou nada</a:t>
            </a:r>
          </a:p>
          <a:p>
            <a:r>
              <a:t>♻️</a:t>
            </a:r>
          </a:p>
          <a:p>
            <a:r>
              <a:t>Não reinventa</a:t>
            </a:r>
          </a:p>
          <a:p>
            <a:r>
              <a:t>Alguém de DTS já resolveu esse problema. O Método é o atalho para começar do melhor ponto.</a:t>
            </a:r>
          </a:p>
          <a:p>
            <a:r>
              <a:t>📐</a:t>
            </a:r>
          </a:p>
          <a:p>
            <a:r>
              <a:t>Padrão A&amp;M</a:t>
            </a:r>
          </a:p>
          <a:p>
            <a:r>
              <a:t>Mesma estrutura e a mesma régua em todo projeto, seja quem for o consultor.</a:t>
            </a:r>
          </a:p>
          <a:p>
            <a:r>
              <a:t>🤖</a:t>
            </a:r>
          </a:p>
          <a:p>
            <a:r>
              <a:t>Sem Método, sem agente</a:t>
            </a:r>
          </a:p>
          <a:p>
            <a:r>
              <a:t>Não dá para delegar o que não está escrito. O Método é o manual que o Claude segue.</a:t>
            </a:r>
          </a:p>
          <a:p>
            <a:r>
              <a:t>⏱️</a:t>
            </a:r>
          </a:p>
          <a:p>
            <a:r>
              <a:t>Onboarding em horas</a:t>
            </a:r>
          </a:p>
          <a:p>
            <a:r>
              <a:t>Quem chega aprende o jeito DTS lendo o Método, sem precisar perguntar para cada pessoa.</a:t>
            </a:r>
          </a:p>
          <a:p>
            <a:r>
              <a:t>Fonte: Caderno DTS · página 04 e maturidade agêntica · exemplo ilustrativo</a:t>
            </a:r>
          </a:p>
          <a:p>
            <a:r>
              <a:t>2/6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Reduções de tempo (estudos reais): escrita profissional −40% (Noy &amp; Zhang, MIT, revista Science, 2023, 453 profissionais) · tarefas de consultoria −25% (Dell'Acqua et al., Harvard/BCG, 2023, 758 consultores da BCG) · programação −56% (Peng et al., GitHub/Microsoft, 2023). </a:t>
            </a:r>
          </a:p>
          <a:p/>
          <a:p>
            <a:r>
              <a:t>Horas sem IA: são referências DTS para um entregável típico. Os percentuais vêm dos estudos. </a:t>
            </a:r>
          </a:p>
          <a:p/>
          <a:p>
            <a:r>
              <a:t>Cobertura do plano: Max 5x dá 5× o uso do Pro e Max 20x dá 20× (números oficiais da Anthropic). Pro sustenta ~30% do mês de produção, Max 5x ~80% e Max 20x 100% (estimativa DTS). </a:t>
            </a:r>
          </a:p>
          <a:p/>
          <a:p>
            <a:r>
              <a:t>Retorno: horas economizadas × custo/hora, com adoção gradual (50% no mês 1 e 75% no mês 2). Base de 96h de produção por mês.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ESTUDOS REAIS · TEMPO, CUSTO E RETORNO POR PLANO</a:t>
            </a:r>
          </a:p>
          <a:p>
            <a:r>
              <a:t>Clique em um plano: os gráficos mudam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Uso leve · ~30% do mês de produção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~80% do mês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100%, inclui Claude Code pesado</a:t>
            </a:r>
          </a:p>
          <a:p>
            <a:r>
              <a:t>HORAS POR ENTREGÁVEL · SEM IA × COM CLAUDE</a:t>
            </a:r>
          </a:p>
          <a:p>
            <a:r>
              <a:t>Sem IA</a:t>
            </a:r>
          </a:p>
          <a:p>
            <a:r>
              <a:t>Com Claude</a:t>
            </a:r>
          </a:p>
          <a:p>
            <a:r>
              <a:t>Proposta comercial</a:t>
            </a:r>
          </a:p>
          <a:p>
            <a:r>
              <a:t>escrita · MIT</a:t>
            </a:r>
          </a:p>
          <a:p>
            <a:r>
              <a:t>−12% de tempo</a:t>
            </a:r>
          </a:p>
          <a:p>
            <a:r>
              <a:t>16h</a:t>
            </a:r>
          </a:p>
          <a:p>
            <a:r>
              <a:t>14,1h</a:t>
            </a:r>
          </a:p>
          <a:p>
            <a:r>
              <a:t>Apresentação executiva</a:t>
            </a:r>
          </a:p>
          <a:p>
            <a:r>
              <a:t>consultoria · Harvard/BCG</a:t>
            </a:r>
          </a:p>
          <a:p>
            <a:r>
              <a:t>−8% de tempo</a:t>
            </a:r>
          </a:p>
          <a:p>
            <a:r>
              <a:t>12h</a:t>
            </a:r>
          </a:p>
          <a:p>
            <a:r>
              <a:t>11,1h</a:t>
            </a:r>
          </a:p>
          <a:p>
            <a:r>
              <a:t>Análise de redução de custos</a:t>
            </a:r>
          </a:p>
          <a:p>
            <a:r>
              <a:t>consultoria · Harvard/BCG</a:t>
            </a:r>
          </a:p>
          <a:p>
            <a:r>
              <a:t>−8% de tempo</a:t>
            </a:r>
          </a:p>
          <a:p>
            <a:r>
              <a:t>24h</a:t>
            </a:r>
          </a:p>
          <a:p>
            <a:r>
              <a:t>22,2h</a:t>
            </a:r>
          </a:p>
          <a:p>
            <a:r>
              <a:t>Dashboard ou protótipo</a:t>
            </a:r>
          </a:p>
          <a:p>
            <a:r>
              <a:t>código · GitHub</a:t>
            </a:r>
          </a:p>
          <a:p>
            <a:r>
              <a:t>−17% de tempo</a:t>
            </a:r>
          </a:p>
          <a:p>
            <a:r>
              <a:t>40h</a:t>
            </a:r>
          </a:p>
          <a:p>
            <a:r>
              <a:t>33,3h</a:t>
            </a:r>
          </a:p>
          <a:p>
            <a:r>
              <a:t>Redução do estudo × cobertura do plano (30%). Horas sem IA são referência DTS.</a:t>
            </a:r>
          </a:p>
          <a:p>
            <a:r>
              <a:t>INVESTIMENTO × RETORNO · 12 MESES</a:t>
            </a:r>
          </a:p>
          <a:p>
            <a:r>
              <a:t>custo/hora R$  · câmbio </a:t>
            </a:r>
          </a:p>
          <a:p>
            <a:r>
              <a:t>11h</a:t>
            </a:r>
          </a:p>
          <a:p>
            <a:r>
              <a:t>economizadas por mês</a:t>
            </a:r>
          </a:p>
          <a:p>
            <a:r>
              <a:t>R$ 110</a:t>
            </a:r>
          </a:p>
          <a:p>
            <a:r>
              <a:t>investimento por mês</a:t>
            </a:r>
          </a:p>
          <a:p>
            <a:r>
              <a:t>R$ 7.977</a:t>
            </a:r>
          </a:p>
          <a:p>
            <a:r>
              <a:t>retorno líquido em 6 meses</a:t>
            </a:r>
          </a:p>
          <a:p>
            <a:r>
              <a:t>R$ 17.189</a:t>
            </a:r>
          </a:p>
          <a:p>
            <a:r>
              <a:t>retorno líquido em 1 ano</a:t>
            </a:r>
          </a:p>
          <a:p>
            <a:r>
              <a:t>0</a:t>
            </a:r>
          </a:p>
          <a:p>
            <a:r>
              <a:t>5k</a:t>
            </a:r>
          </a:p>
          <a:p>
            <a:r>
              <a:t>10k</a:t>
            </a:r>
          </a:p>
          <a:p>
            <a:r>
              <a:t>15k</a:t>
            </a:r>
          </a:p>
          <a:p>
            <a:r>
              <a:t>20k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R$ 8.637</a:t>
            </a:r>
          </a:p>
          <a:p>
            <a:r>
              <a:t>R$ 18.509</a:t>
            </a:r>
          </a:p>
          <a:p>
            <a:r>
              <a:t>investimento R$ 1.320</a:t>
            </a:r>
          </a:p>
          <a:p>
            <a:r>
              <a:t>se paga no mês 1</a:t>
            </a:r>
          </a:p>
          <a:p>
            <a:r>
              <a:t>retorno acumulado (horas economizadas × custo/hora)</a:t>
            </a:r>
          </a:p>
          <a:p>
            <a:r>
              <a:t>investimento acumulado no plano</a:t>
            </a:r>
          </a:p>
          <a:p>
            <a:r>
              <a:t>−25%</a:t>
            </a:r>
          </a:p>
          <a:p>
            <a:r>
              <a:t>tempo · +40% qualidade</a:t>
            </a:r>
          </a:p>
          <a:p>
            <a:r>
              <a:t>Harvard/BCG 2023 · 758 consultores</a:t>
            </a:r>
          </a:p>
          <a:p>
            <a:r>
              <a:t>−40%</a:t>
            </a:r>
          </a:p>
          <a:p>
            <a:r>
              <a:t>tempo · +18% qualidade</a:t>
            </a:r>
          </a:p>
          <a:p>
            <a:r>
              <a:t>MIT · Science 2023 · escrita profissional</a:t>
            </a:r>
          </a:p>
          <a:p>
            <a:r>
              <a:t>−56%</a:t>
            </a:r>
          </a:p>
          <a:p>
            <a:r>
              <a:t>tempo em programação</a:t>
            </a:r>
          </a:p>
          <a:p>
            <a:r>
              <a:t>GitHub/Microsoft 2023 · desenvolvedores</a:t>
            </a:r>
          </a:p>
          <a:p>
            <a:r>
              <a:t>−19 p.p.</a:t>
            </a:r>
          </a:p>
          <a:p>
            <a:r>
              <a:t>de acerto quando a IA é usada fora do que ela faz bem</a:t>
            </a:r>
          </a:p>
          <a:p>
            <a:r>
              <a:t>Harvard/BCG 2023 · por isso o consultor audita</a:t>
            </a:r>
          </a:p>
          <a:p>
            <a:r>
              <a:t>Fontes: Dell'Acqua et al. (Harvard/BCG, 2023) · Noy &amp; Zhang (Science, 2023) · Peng et al. (GitHub, 2023) · preços Anthropic out/2026 · horas de referência DTS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Reduções de tempo (estudos reais): escrita profissional −40% (Noy &amp; Zhang, MIT, revista Science, 2023, 453 profissionais) · tarefas de consultoria −25% (Dell'Acqua et al., Harvard/BCG, 2023, 758 consultores da BCG) · programação −56% (Peng et al., GitHub/Microsoft, 2023). </a:t>
            </a:r>
          </a:p>
          <a:p/>
          <a:p>
            <a:r>
              <a:t>Horas sem IA: são referências DTS para um entregável típico. Os percentuais vêm dos estudos. </a:t>
            </a:r>
          </a:p>
          <a:p/>
          <a:p>
            <a:r>
              <a:t>Cobertura do plano: Max 5x dá 5× o uso do Pro e Max 20x dá 20× (números oficiais da Anthropic). Pro sustenta ~30% do mês de produção, Max 5x ~80% e Max 20x 100% (estimativa DTS). </a:t>
            </a:r>
          </a:p>
          <a:p/>
          <a:p>
            <a:r>
              <a:t>Retorno: horas economizadas × custo/hora, com adoção gradual (50% no mês 1 e 75% no mês 2). Base de 96h de produção por mês.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ESTUDOS REAIS · TEMPO, CUSTO E RETORNO POR PLANO</a:t>
            </a:r>
          </a:p>
          <a:p>
            <a:r>
              <a:t>Clique em um plano: os gráficos mudam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Uso leve · ~30% do mês de produção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~80% do mês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100%, inclui Claude Code pesado</a:t>
            </a:r>
          </a:p>
          <a:p>
            <a:r>
              <a:t>HORAS POR ENTREGÁVEL · SEM IA × COM CLAUDE</a:t>
            </a:r>
          </a:p>
          <a:p>
            <a:r>
              <a:t>Sem IA</a:t>
            </a:r>
          </a:p>
          <a:p>
            <a:r>
              <a:t>Com Claude</a:t>
            </a:r>
          </a:p>
          <a:p>
            <a:r>
              <a:t>Proposta comercial</a:t>
            </a:r>
          </a:p>
          <a:p>
            <a:r>
              <a:t>escrita · MIT</a:t>
            </a:r>
          </a:p>
          <a:p>
            <a:r>
              <a:t>−32% de tempo</a:t>
            </a:r>
          </a:p>
          <a:p>
            <a:r>
              <a:t>16h</a:t>
            </a:r>
          </a:p>
          <a:p>
            <a:r>
              <a:t>10,9h</a:t>
            </a:r>
          </a:p>
          <a:p>
            <a:r>
              <a:t>Apresentação executiva</a:t>
            </a:r>
          </a:p>
          <a:p>
            <a:r>
              <a:t>consultoria · Harvard/BCG</a:t>
            </a:r>
          </a:p>
          <a:p>
            <a:r>
              <a:t>−20% de tempo</a:t>
            </a:r>
          </a:p>
          <a:p>
            <a:r>
              <a:t>12h</a:t>
            </a:r>
          </a:p>
          <a:p>
            <a:r>
              <a:t>9,6h</a:t>
            </a:r>
          </a:p>
          <a:p>
            <a:r>
              <a:t>Análise de redução de custos</a:t>
            </a:r>
          </a:p>
          <a:p>
            <a:r>
              <a:t>consultoria · Harvard/BCG</a:t>
            </a:r>
          </a:p>
          <a:p>
            <a:r>
              <a:t>−20% de tempo</a:t>
            </a:r>
          </a:p>
          <a:p>
            <a:r>
              <a:t>24h</a:t>
            </a:r>
          </a:p>
          <a:p>
            <a:r>
              <a:t>19,2h</a:t>
            </a:r>
          </a:p>
          <a:p>
            <a:r>
              <a:t>Dashboard ou protótipo</a:t>
            </a:r>
          </a:p>
          <a:p>
            <a:r>
              <a:t>código · GitHub</a:t>
            </a:r>
          </a:p>
          <a:p>
            <a:r>
              <a:t>−45% de tempo</a:t>
            </a:r>
          </a:p>
          <a:p>
            <a:r>
              <a:t>40h</a:t>
            </a:r>
          </a:p>
          <a:p>
            <a:r>
              <a:t>22,1h</a:t>
            </a:r>
          </a:p>
          <a:p>
            <a:r>
              <a:t>Redução do estudo × cobertura do plano (80%). Horas sem IA são referência DTS.</a:t>
            </a:r>
          </a:p>
          <a:p>
            <a:r>
              <a:t>INVESTIMENTO × RETORNO · 12 MESES</a:t>
            </a:r>
          </a:p>
          <a:p>
            <a:r>
              <a:t>custo/hora R$  · câmbio </a:t>
            </a:r>
          </a:p>
          <a:p>
            <a:r>
              <a:t>29h</a:t>
            </a:r>
          </a:p>
          <a:p>
            <a:r>
              <a:t>economizadas por mês</a:t>
            </a:r>
          </a:p>
          <a:p>
            <a:r>
              <a:t>R$ 550</a:t>
            </a:r>
          </a:p>
          <a:p>
            <a:r>
              <a:t>investimento por mês</a:t>
            </a:r>
          </a:p>
          <a:p>
            <a:r>
              <a:t>R$ 19.733</a:t>
            </a:r>
          </a:p>
          <a:p>
            <a:r>
              <a:t>retorno líquido em 6 meses</a:t>
            </a:r>
          </a:p>
          <a:p>
            <a:r>
              <a:t>R$ 42.756</a:t>
            </a:r>
          </a:p>
          <a:p>
            <a:r>
              <a:t>retorno líquido em 1 ano</a:t>
            </a:r>
          </a:p>
          <a:p>
            <a:r>
              <a:t>0</a:t>
            </a:r>
          </a:p>
          <a:p>
            <a:r>
              <a:t>13k</a:t>
            </a:r>
          </a:p>
          <a:p>
            <a:r>
              <a:t>27k</a:t>
            </a:r>
          </a:p>
          <a:p>
            <a:r>
              <a:t>40k</a:t>
            </a:r>
          </a:p>
          <a:p>
            <a:r>
              <a:t>53k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R$ 23.033</a:t>
            </a:r>
          </a:p>
          <a:p>
            <a:r>
              <a:t>R$ 49.356</a:t>
            </a:r>
          </a:p>
          <a:p>
            <a:r>
              <a:t>investimento R$ 6.600</a:t>
            </a:r>
          </a:p>
          <a:p>
            <a:r>
              <a:t>se paga no mês 1</a:t>
            </a:r>
          </a:p>
          <a:p>
            <a:r>
              <a:t>retorno acumulado (horas economizadas × custo/hora)</a:t>
            </a:r>
          </a:p>
          <a:p>
            <a:r>
              <a:t>investimento acumulado no plano</a:t>
            </a:r>
          </a:p>
          <a:p>
            <a:r>
              <a:t>−25%</a:t>
            </a:r>
          </a:p>
          <a:p>
            <a:r>
              <a:t>tempo · +40% qualidade</a:t>
            </a:r>
          </a:p>
          <a:p>
            <a:r>
              <a:t>Harvard/BCG 2023 · 758 consultores</a:t>
            </a:r>
          </a:p>
          <a:p>
            <a:r>
              <a:t>−40%</a:t>
            </a:r>
          </a:p>
          <a:p>
            <a:r>
              <a:t>tempo · +18% qualidade</a:t>
            </a:r>
          </a:p>
          <a:p>
            <a:r>
              <a:t>MIT · Science 2023 · escrita profissional</a:t>
            </a:r>
          </a:p>
          <a:p>
            <a:r>
              <a:t>−56%</a:t>
            </a:r>
          </a:p>
          <a:p>
            <a:r>
              <a:t>tempo em programação</a:t>
            </a:r>
          </a:p>
          <a:p>
            <a:r>
              <a:t>GitHub/Microsoft 2023 · desenvolvedores</a:t>
            </a:r>
          </a:p>
          <a:p>
            <a:r>
              <a:t>−19 p.p.</a:t>
            </a:r>
          </a:p>
          <a:p>
            <a:r>
              <a:t>de acerto quando a IA é usada fora do que ela faz bem</a:t>
            </a:r>
          </a:p>
          <a:p>
            <a:r>
              <a:t>Harvard/BCG 2023 · por isso o consultor audita</a:t>
            </a:r>
          </a:p>
          <a:p>
            <a:r>
              <a:t>Fontes: Dell'Acqua et al. (Harvard/BCG, 2023) · Noy &amp; Zhang (Science, 2023) · Peng et al. (GitHub, 2023) · preços Anthropic out/2026 · horas de referência DTS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Reduções de tempo (estudos reais): escrita profissional −40% (Noy &amp; Zhang, MIT, revista Science, 2023, 453 profissionais) · tarefas de consultoria −25% (Dell'Acqua et al., Harvard/BCG, 2023, 758 consultores da BCG) · programação −56% (Peng et al., GitHub/Microsoft, 2023). </a:t>
            </a:r>
          </a:p>
          <a:p/>
          <a:p>
            <a:r>
              <a:t>Horas sem IA: são referências DTS para um entregável típico. Os percentuais vêm dos estudos. </a:t>
            </a:r>
          </a:p>
          <a:p/>
          <a:p>
            <a:r>
              <a:t>Cobertura do plano: Max 5x dá 5× o uso do Pro e Max 20x dá 20× (números oficiais da Anthropic). Pro sustenta ~30% do mês de produção, Max 5x ~80% e Max 20x 100% (estimativa DTS). </a:t>
            </a:r>
          </a:p>
          <a:p/>
          <a:p>
            <a:r>
              <a:t>Retorno: horas economizadas × custo/hora, com adoção gradual (50% no mês 1 e 75% no mês 2). Base de 96h de produção por mês.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ESTUDOS REAIS · TEMPO, CUSTO E RETORNO POR PLANO</a:t>
            </a:r>
          </a:p>
          <a:p>
            <a:r>
              <a:t>Clique em um plano: os gráficos mudam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Uso leve · ~30% do mês de produção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~80% do mês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100%, inclui Claude Code pesado</a:t>
            </a:r>
          </a:p>
          <a:p>
            <a:r>
              <a:t>HORAS POR ENTREGÁVEL · SEM IA × COM CLAUDE</a:t>
            </a:r>
          </a:p>
          <a:p>
            <a:r>
              <a:t>Sem IA</a:t>
            </a:r>
          </a:p>
          <a:p>
            <a:r>
              <a:t>Com Claude</a:t>
            </a:r>
          </a:p>
          <a:p>
            <a:r>
              <a:t>Proposta comercial</a:t>
            </a:r>
          </a:p>
          <a:p>
            <a:r>
              <a:t>escrita · MIT</a:t>
            </a:r>
          </a:p>
          <a:p>
            <a:r>
              <a:t>−40% de tempo</a:t>
            </a:r>
          </a:p>
          <a:p>
            <a:r>
              <a:t>16h</a:t>
            </a:r>
          </a:p>
          <a:p>
            <a:r>
              <a:t>9,6h</a:t>
            </a:r>
          </a:p>
          <a:p>
            <a:r>
              <a:t>Apresentação executiva</a:t>
            </a:r>
          </a:p>
          <a:p>
            <a:r>
              <a:t>consultoria · Harvard/BCG</a:t>
            </a:r>
          </a:p>
          <a:p>
            <a:r>
              <a:t>−25% de tempo</a:t>
            </a:r>
          </a:p>
          <a:p>
            <a:r>
              <a:t>12h</a:t>
            </a:r>
          </a:p>
          <a:p>
            <a:r>
              <a:t>9,0h</a:t>
            </a:r>
          </a:p>
          <a:p>
            <a:r>
              <a:t>Análise de redução de custos</a:t>
            </a:r>
          </a:p>
          <a:p>
            <a:r>
              <a:t>consultoria · Harvard/BCG</a:t>
            </a:r>
          </a:p>
          <a:p>
            <a:r>
              <a:t>−25% de tempo</a:t>
            </a:r>
          </a:p>
          <a:p>
            <a:r>
              <a:t>24h</a:t>
            </a:r>
          </a:p>
          <a:p>
            <a:r>
              <a:t>18,0h</a:t>
            </a:r>
          </a:p>
          <a:p>
            <a:r>
              <a:t>Dashboard ou protótipo</a:t>
            </a:r>
          </a:p>
          <a:p>
            <a:r>
              <a:t>código · GitHub</a:t>
            </a:r>
          </a:p>
          <a:p>
            <a:r>
              <a:t>−56% de tempo</a:t>
            </a:r>
          </a:p>
          <a:p>
            <a:r>
              <a:t>40h</a:t>
            </a:r>
          </a:p>
          <a:p>
            <a:r>
              <a:t>17,6h</a:t>
            </a:r>
          </a:p>
          <a:p>
            <a:r>
              <a:t>Redução do estudo × cobertura do plano (100%). Horas sem IA são referência DTS.</a:t>
            </a:r>
          </a:p>
          <a:p>
            <a:r>
              <a:t>INVESTIMENTO × RETORNO · 12 MESES</a:t>
            </a:r>
          </a:p>
          <a:p>
            <a:r>
              <a:t>custo/hora R$  · câmbio </a:t>
            </a:r>
          </a:p>
          <a:p>
            <a:r>
              <a:t>37h</a:t>
            </a:r>
          </a:p>
          <a:p>
            <a:r>
              <a:t>economizadas por mês</a:t>
            </a:r>
          </a:p>
          <a:p>
            <a:r>
              <a:t>R$ 1.100</a:t>
            </a:r>
          </a:p>
          <a:p>
            <a:r>
              <a:t>investimento por mês</a:t>
            </a:r>
          </a:p>
          <a:p>
            <a:r>
              <a:t>R$ 22.191</a:t>
            </a:r>
          </a:p>
          <a:p>
            <a:r>
              <a:t>retorno líquido em 6 meses</a:t>
            </a:r>
          </a:p>
          <a:p>
            <a:r>
              <a:t>R$ 48.495</a:t>
            </a:r>
          </a:p>
          <a:p>
            <a:r>
              <a:t>retorno líquido em 1 ano</a:t>
            </a:r>
          </a:p>
          <a:p>
            <a:r>
              <a:t>0</a:t>
            </a:r>
          </a:p>
          <a:p>
            <a:r>
              <a:t>17k</a:t>
            </a:r>
          </a:p>
          <a:p>
            <a:r>
              <a:t>33k</a:t>
            </a:r>
          </a:p>
          <a:p>
            <a:r>
              <a:t>50k</a:t>
            </a:r>
          </a:p>
          <a:p>
            <a:r>
              <a:t>67k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R$ 28.791</a:t>
            </a:r>
          </a:p>
          <a:p>
            <a:r>
              <a:t>R$ 61.695</a:t>
            </a:r>
          </a:p>
          <a:p>
            <a:r>
              <a:t>investimento R$ 13.200</a:t>
            </a:r>
          </a:p>
          <a:p>
            <a:r>
              <a:t>se paga no mês 1</a:t>
            </a:r>
          </a:p>
          <a:p>
            <a:r>
              <a:t>retorno acumulado (horas economizadas × custo/hora)</a:t>
            </a:r>
          </a:p>
          <a:p>
            <a:r>
              <a:t>investimento acumulado no plano</a:t>
            </a:r>
          </a:p>
          <a:p>
            <a:r>
              <a:t>−25%</a:t>
            </a:r>
          </a:p>
          <a:p>
            <a:r>
              <a:t>tempo · +40% qualidade</a:t>
            </a:r>
          </a:p>
          <a:p>
            <a:r>
              <a:t>Harvard/BCG 2023 · 758 consultores</a:t>
            </a:r>
          </a:p>
          <a:p>
            <a:r>
              <a:t>−40%</a:t>
            </a:r>
          </a:p>
          <a:p>
            <a:r>
              <a:t>tempo · +18% qualidade</a:t>
            </a:r>
          </a:p>
          <a:p>
            <a:r>
              <a:t>MIT · Science 2023 · escrita profissional</a:t>
            </a:r>
          </a:p>
          <a:p>
            <a:r>
              <a:t>−56%</a:t>
            </a:r>
          </a:p>
          <a:p>
            <a:r>
              <a:t>tempo em programação</a:t>
            </a:r>
          </a:p>
          <a:p>
            <a:r>
              <a:t>GitHub/Microsoft 2023 · desenvolvedores</a:t>
            </a:r>
          </a:p>
          <a:p>
            <a:r>
              <a:t>−19 p.p.</a:t>
            </a:r>
          </a:p>
          <a:p>
            <a:r>
              <a:t>de acerto quando a IA é usada fora do que ela faz bem</a:t>
            </a:r>
          </a:p>
          <a:p>
            <a:r>
              <a:t>Harvard/BCG 2023 · por isso o consultor audita</a:t>
            </a:r>
          </a:p>
          <a:p>
            <a:r>
              <a:t>Fontes: Dell'Acqua et al. (Harvard/BCG, 2023) · Noy &amp; Zhang (Science, 2023) · Peng et al. (GitHub, 2023) · preços Anthropic out/2026 · horas de referência DTS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Consumo de tokens: é uma régua relativa para escolher bem, não uma medição. Modelos maiores e tarefas longas (arquivos grandes, Claude Code, agentes, pesquisa profunda) consomem muito mais do limite do seu plano. </a:t>
            </a:r>
          </a:p>
          <a:p/>
          <a:p>
            <a:r>
              <a:t>Linha de modelos: out/2026. No ChatGPT os nomes mudam com frequência, então escolha pelo modo no seletor. </a:t>
            </a:r>
          </a:p>
          <a:p/>
          <a:p>
            <a:r>
              <a:t>Dados de cliente só nas ferramentas e contas homologadas pela A&amp;M.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FERRAMENTAS E MODELOS</a:t>
            </a:r>
          </a:p>
          <a:p>
            <a:r>
              <a:t>Parte 2 · Qual usar, quando e quanto consome</a:t>
            </a:r>
          </a:p>
          <a:p>
            <a:r>
              <a:t>Diagnóstico IA · DTS</a:t>
            </a:r>
          </a:p>
          <a:p>
            <a:r>
              <a:t>4/6</a:t>
            </a:r>
          </a:p>
          <a:p>
            <a:r>
              <a:t>FERRAMENTA CERTA, MODELO CERTO · GASTANDO O TOKEN CERTO</a:t>
            </a:r>
          </a:p>
          <a:p>
            <a:r>
              <a:t>Régua de consumo: Pouco · Médio · Muito</a:t>
            </a:r>
          </a:p>
          <a:p>
            <a:r>
              <a:t>🌐</a:t>
            </a:r>
          </a:p>
          <a:p>
            <a:r>
              <a:t>Claude Web</a:t>
            </a:r>
          </a:p>
          <a:p>
            <a:r>
              <a:t>claude.ai · conversar e criar</a:t>
            </a:r>
          </a:p>
          <a:p>
            <a:r>
              <a:t>Rascunhos, análises e propostas</a:t>
            </a:r>
          </a:p>
          <a:p>
            <a:r>
              <a:t>Projects com contexto salvo</a:t>
            </a:r>
          </a:p>
          <a:p>
            <a:r>
              <a:t>Artifacts: páginas, decks, dashboards</a:t>
            </a:r>
          </a:p>
          <a:p>
            <a:r>
              <a:t>Research com fontes</a:t>
            </a:r>
          </a:p>
          <a:p>
            <a:r>
              <a:t>Sonnet 5.5</a:t>
            </a:r>
          </a:p>
          <a:p>
            <a:r>
              <a:t>MÉDIO</a:t>
            </a:r>
          </a:p>
          <a:p>
            <a:r>
              <a:t>🖥️</a:t>
            </a:r>
          </a:p>
          <a:p>
            <a:r>
              <a:t>Claude Desktop</a:t>
            </a:r>
          </a:p>
          <a:p>
            <a:r>
              <a:t>app · trabalhar com seu computador</a:t>
            </a:r>
          </a:p>
          <a:p>
            <a:r>
              <a:t>Arquivos e pastas locais</a:t>
            </a:r>
          </a:p>
          <a:p>
            <a:r>
              <a:t>Conectores e MCP (e-mail, drive)</a:t>
            </a:r>
          </a:p>
          <a:p>
            <a:r>
              <a:t>Cowork: tarefas longas delegadas</a:t>
            </a:r>
          </a:p>
          <a:p>
            <a:r>
              <a:t>Skills sem programar</a:t>
            </a:r>
          </a:p>
          <a:p>
            <a:r>
              <a:t>Sonnet / Opus 5.5</a:t>
            </a:r>
          </a:p>
          <a:p>
            <a:r>
              <a:t>MÉDIO</a:t>
            </a:r>
          </a:p>
          <a:p>
            <a:r>
              <a:t>⌨️</a:t>
            </a:r>
          </a:p>
          <a:p>
            <a:r>
              <a:t>Claude Code</a:t>
            </a:r>
          </a:p>
          <a:p>
            <a:r>
              <a:t>terminal · web · construir</a:t>
            </a:r>
          </a:p>
          <a:p>
            <a:r>
              <a:t>Sistemas, dashboards e jogos</a:t>
            </a:r>
          </a:p>
          <a:p>
            <a:r>
              <a:t>Automações e agentes</a:t>
            </a:r>
          </a:p>
          <a:p>
            <a:r>
              <a:t>Engenharia reversa de sistemas</a:t>
            </a:r>
          </a:p>
          <a:p>
            <a:r>
              <a:t>Criar e testar Skills</a:t>
            </a:r>
          </a:p>
          <a:p>
            <a:r>
              <a:t>Opus 5.5 · Sonnet 5.5</a:t>
            </a:r>
          </a:p>
          <a:p>
            <a:r>
              <a:t>MUITO</a:t>
            </a:r>
          </a:p>
          <a:p>
            <a:r>
              <a:t>💬</a:t>
            </a:r>
          </a:p>
          <a:p>
            <a:r>
              <a:t>ChatGPT</a:t>
            </a:r>
          </a:p>
          <a:p>
            <a:r>
              <a:t>segunda opinião e mídia</a:t>
            </a:r>
          </a:p>
          <a:p>
            <a:r>
              <a:t>Imagens e edição visual</a:t>
            </a:r>
          </a:p>
          <a:p>
            <a:r>
              <a:t>Deep Research longo</a:t>
            </a:r>
          </a:p>
          <a:p>
            <a:r>
              <a:t>Modo Agent e GPTs</a:t>
            </a:r>
          </a:p>
          <a:p>
            <a:r>
              <a:t>Codex para código</a:t>
            </a:r>
          </a:p>
          <a:p>
            <a:r>
              <a:t>Instant · Thinking · Pro</a:t>
            </a:r>
          </a:p>
          <a:p>
            <a:r>
              <a:t>MÉDIO</a:t>
            </a:r>
          </a:p>
          <a:p>
            <a:r>
              <a:t>MODELOS · PARA QUE E QUANDO USAR</a:t>
            </a:r>
          </a:p>
          <a:p>
            <a:r>
              <a:t>MODELO	PARA QUÊ	QUANDO USAR	CONSUMO</a:t>
            </a:r>
          </a:p>
          <a:p>
            <a:r>
              <a:t>Haiku 5.5</a:t>
            </a:r>
          </a:p>
          <a:p>
            <a:r>
              <a:t>Claude</a:t>
            </a:r>
          </a:p>
          <a:p>
            <a:r>
              <a:t>	Velocidade	Triagem, classificar e resumir em volume	</a:t>
            </a:r>
          </a:p>
          <a:p>
            <a:r>
              <a:t>POUCO</a:t>
            </a:r>
          </a:p>
          <a:p>
            <a:r>
              <a:t>Sonnet 5.5</a:t>
            </a:r>
          </a:p>
          <a:p>
            <a:r>
              <a:t>Claude</a:t>
            </a:r>
          </a:p>
          <a:p>
            <a:r>
              <a:t>	O dia a dia	Textos, decks, análises e código do dia a dia	</a:t>
            </a:r>
          </a:p>
          <a:p>
            <a:r>
              <a:t>MÉDIO</a:t>
            </a:r>
          </a:p>
          <a:p>
            <a:r>
              <a:t>Opus 5.5</a:t>
            </a:r>
          </a:p>
          <a:p>
            <a:r>
              <a:t>Claude</a:t>
            </a:r>
          </a:p>
          <a:p>
            <a:r>
              <a:t>	Pensar e construir	Estratégia, problema complexo, Claude Code pesado	</a:t>
            </a:r>
          </a:p>
          <a:p>
            <a:r>
              <a:t>MUITO</a:t>
            </a:r>
          </a:p>
          <a:p>
            <a:r>
              <a:t>Fable 5.1</a:t>
            </a:r>
          </a:p>
          <a:p>
            <a:r>
              <a:t>Claude</a:t>
            </a:r>
          </a:p>
          <a:p>
            <a:r>
              <a:t>	O mais potente	Só para o problema mais difícil (se o plano tiver)	</a:t>
            </a:r>
          </a:p>
          <a:p>
            <a:r>
              <a:t>MUITO</a:t>
            </a:r>
          </a:p>
          <a:p>
            <a:r>
              <a:t>Instant</a:t>
            </a:r>
          </a:p>
          <a:p>
            <a:r>
              <a:t>ChatGPT</a:t>
            </a:r>
          </a:p>
          <a:p>
            <a:r>
              <a:t>	Rápido	Perguntas, e-mails e textos curtos	</a:t>
            </a:r>
          </a:p>
          <a:p>
            <a:r>
              <a:t>POUCO</a:t>
            </a:r>
          </a:p>
          <a:p>
            <a:r>
              <a:t>Thinking</a:t>
            </a:r>
          </a:p>
          <a:p>
            <a:r>
              <a:t>ChatGPT</a:t>
            </a:r>
          </a:p>
          <a:p>
            <a:r>
              <a:t>	Raciocínio	Análise em etapas, planilhas e lógica	</a:t>
            </a:r>
          </a:p>
          <a:p>
            <a:r>
              <a:t>MÉDIO</a:t>
            </a:r>
          </a:p>
          <a:p>
            <a:r>
              <a:t>Pro · Deep Research · Agent</a:t>
            </a:r>
          </a:p>
          <a:p>
            <a:r>
              <a:t>ChatGPT</a:t>
            </a:r>
          </a:p>
          <a:p>
            <a:r>
              <a:t>	Pesado	Pesquisa longa e tarefas autônomas	</a:t>
            </a:r>
          </a:p>
          <a:p>
            <a:r>
              <a:t>MUITO</a:t>
            </a:r>
          </a:p>
          <a:p>
            <a:r>
              <a:t>A RÉGUA DE CONSUMO</a:t>
            </a:r>
          </a:p>
          <a:p>
            <a:r>
              <a:t>POUCO</a:t>
            </a:r>
          </a:p>
          <a:p>
            <a:r>
              <a:t>Perguntas rápidas, resumos curtos, revisão de texto, e-mail.</a:t>
            </a:r>
          </a:p>
          <a:p>
            <a:r>
              <a:t>MÉDIO</a:t>
            </a:r>
          </a:p>
          <a:p>
            <a:r>
              <a:t>Documentos e planilhas anexados, análises, decks e propostas.</a:t>
            </a:r>
          </a:p>
          <a:p>
            <a:r>
              <a:t>MUITO</a:t>
            </a:r>
          </a:p>
          <a:p>
            <a:r>
              <a:t>Claude Code, agentes, pesquisa profunda, contexto gigante, conversas muito longas.</a:t>
            </a:r>
          </a:p>
          <a:p>
            <a:r>
              <a:t>COMO USAR MELHOR</a:t>
            </a:r>
          </a:p>
          <a:p>
            <a:r>
              <a:t>Comece pequeno: Sonnet ou Instant. Suba para Opus ou Thinking só se precisar.</a:t>
            </a:r>
          </a:p>
          <a:p>
            <a:r>
              <a:t>Um assunto por conversa. Chat longo relê tudo e gasta mais.</a:t>
            </a:r>
          </a:p>
          <a:p>
            <a:r>
              <a:t>Use Projects: o contexto fica salvo e você não cola os mesmos arquivos de novo.</a:t>
            </a:r>
          </a:p>
          <a:p>
            <a:r>
              <a:t>Prompt com 5 peças: objetivo · contexto · público · formato · referência.</a:t>
            </a:r>
          </a:p>
          <a:p>
            <a:r>
              <a:t>Arquivo grande? Peça um resumo uma vez e trabalhe sobre o resumo.</a:t>
            </a:r>
          </a:p>
          <a:p>
            <a:r>
              <a:t>No Claude Code: Opus para planejar e Sonnet para executar a rotina.</a:t>
            </a:r>
          </a:p>
          <a:p>
            <a:r>
              <a:t>Fonte: linha de modelos Anthropic e OpenAI em out/2026 · régua de consumo relativa (confirme limites no seu plano)</a:t>
            </a:r>
          </a:p>
          <a:p>
            <a:r>
              <a:t>4/6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Trilha livre: não é obrigatória e não tem regra. É uma biblioteca para estudar, consultar e explorar no seu ritmo. </a:t>
            </a:r>
          </a:p>
          <a:p/>
          <a:p>
            <a:r>
              <a:t>Os vídeos são gratuitos, em português, de canais reconhecidos (Akita, Full Cycle, Deborah Folloni, Rodrigo do Carmo, Mário Trentim, Hashtag). </a:t>
            </a:r>
          </a:p>
          <a:p/>
          <a:p>
            <a:r>
              <a:t>Aleatório: sorteia conteúdos de design, sistemas, jogos, dados e automação para ampliar o repertório.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TRILHA LIVRE</a:t>
            </a:r>
          </a:p>
          <a:p>
            <a:r>
              <a:t>Parte 3 · Estude, consulte e explore</a:t>
            </a:r>
          </a:p>
          <a:p>
            <a:r>
              <a:t>Diagnóstico IA · DTS</a:t>
            </a:r>
          </a:p>
          <a:p>
            <a:r>
              <a:t>5/6</a:t>
            </a:r>
          </a:p>
          <a:p>
            <a:r>
              <a:t>TRILHA LIVRE DE ESTUDOS · NO SEU RITMO</a:t>
            </a:r>
          </a:p>
          <a:p>
            <a:r>
              <a:t>Gratuito · em português · do básico à consultoria</a:t>
            </a:r>
          </a:p>
          <a:p>
            <a:r>
              <a:t>Por onde começar?</a:t>
            </a:r>
          </a:p>
          <a:p>
            <a:r>
              <a:t>Evolução → níveis 1 e 2</a:t>
            </a:r>
          </a:p>
          <a:p>
            <a:r>
              <a:t>Autonomia → níveis 2 e 3</a:t>
            </a:r>
          </a:p>
          <a:p>
            <a:r>
              <a:t>Multiplicação → níveis 3 e 4</a:t>
            </a:r>
          </a:p>
          <a:p>
            <a:r>
              <a:t>Clique em qualquer vídeo para abrir no YouTube</a:t>
            </a:r>
          </a:p>
          <a:p>
            <a:r>
              <a:t>1</a:t>
            </a:r>
          </a:p>
          <a:p>
            <a:r>
              <a:t>Nível 1 · Compreender</a:t>
            </a:r>
          </a:p>
          <a:p>
            <a:r>
              <a:t>Prompt e primeiros passos</a:t>
            </a:r>
          </a:p>
          <a:p>
            <a:r>
              <a:t>LUCAS MOREIRA</a:t>
            </a:r>
          </a:p>
          <a:p>
            <a:r>
              <a:t>Engenharia de Prompt: o guia completo</a:t>
            </a:r>
          </a:p>
          <a:p>
            <a:r>
              <a:t>Prompts consistentes, tokens e versionamento</a:t>
            </a:r>
          </a:p>
          <a:p>
            <a:r>
              <a:t>SANDECO</a:t>
            </a:r>
          </a:p>
          <a:p>
            <a:r>
              <a:t>Curso ChatGPT: Engenharia de Prompts</a:t>
            </a:r>
          </a:p>
          <a:p>
            <a:r>
              <a:t>Formação de prompts e aplicações práticas</a:t>
            </a:r>
          </a:p>
          <a:p>
            <a:r>
              <a:t>RODRIGO DO CARMO</a:t>
            </a:r>
          </a:p>
          <a:p>
            <a:r>
              <a:t>Claude Cowork: curso completo para iniciantes</a:t>
            </a:r>
          </a:p>
          <a:p>
            <a:r>
              <a:t>Skills, MCP e plugins sem programar</a:t>
            </a:r>
          </a:p>
          <a:p>
            <a:r>
              <a:t>PROF. MENDES</a:t>
            </a:r>
          </a:p>
          <a:p>
            <a:r>
              <a:t>Engenharia de Prompt na prática (aula 01)</a:t>
            </a:r>
          </a:p>
          <a:p>
            <a:r>
              <a:t>Exercícios guiados, do zero</a:t>
            </a:r>
          </a:p>
          <a:p>
            <a:r>
              <a:t>DEBORAH FOLLONI</a:t>
            </a:r>
          </a:p>
          <a:p>
            <a:r>
              <a:t>Claude Code explicado para pessoas normais</a:t>
            </a:r>
          </a:p>
          <a:p>
            <a:r>
              <a:t>Sem jargão técnico, para não-devs</a:t>
            </a:r>
          </a:p>
          <a:p>
            <a:r>
              <a:t>Use em: atas, e-mails, resumos executivos e primeiras versões de entregáveis.</a:t>
            </a:r>
          </a:p>
          <a:p>
            <a:r>
              <a:t>2</a:t>
            </a:r>
          </a:p>
          <a:p>
            <a:r>
              <a:t>Nível 2 · Construir</a:t>
            </a:r>
          </a:p>
          <a:p>
            <a:r>
              <a:t>Claude Code, Skills e RAG</a:t>
            </a:r>
          </a:p>
          <a:p>
            <a:r>
              <a:t>RODRIGO DO CARMO</a:t>
            </a:r>
          </a:p>
          <a:p>
            <a:r>
              <a:t>Claude Code: curso completo para iniciantes</a:t>
            </a:r>
          </a:p>
          <a:p>
            <a:r>
              <a:t>Contexto, Skills, MCP e subagentes · 1h27</a:t>
            </a:r>
          </a:p>
          <a:p>
            <a:r>
              <a:t>DEBORAH FOLLONI</a:t>
            </a:r>
          </a:p>
          <a:p>
            <a:r>
              <a:t>Vibe Coding não funciona (novo workflow)</a:t>
            </a:r>
          </a:p>
          <a:p>
            <a:r>
              <a:t>Especificar, planejar e dividir tarefas</a:t>
            </a:r>
          </a:p>
          <a:p>
            <a:r>
              <a:t>FULL CYCLE</a:t>
            </a:r>
          </a:p>
          <a:p>
            <a:r>
              <a:t>Claude Code: guia completo</a:t>
            </a:r>
          </a:p>
          <a:p>
            <a:r>
              <a:t>O que todo dev precisa saber</a:t>
            </a:r>
          </a:p>
          <a:p>
            <a:r>
              <a:t>DEBORAH FOLLONI</a:t>
            </a:r>
          </a:p>
          <a:p>
            <a:r>
              <a:t>Agora eu só uso Skills</a:t>
            </a:r>
          </a:p>
          <a:p>
            <a:r>
              <a:t>Por que Skills substituem agentes soltos</a:t>
            </a:r>
          </a:p>
          <a:p>
            <a:r>
              <a:t>DEBORAH FOLLONI</a:t>
            </a:r>
          </a:p>
          <a:p>
            <a:r>
              <a:t>Como eu uso o Claude Code (anti-vibe coding)</a:t>
            </a:r>
          </a:p>
          <a:p>
            <a:r>
              <a:t>O workflow dela, passo a passo</a:t>
            </a:r>
          </a:p>
          <a:p>
            <a:r>
              <a:t>Use em: transformar entregas recorrentes em Skills e protótipos para o cliente.</a:t>
            </a:r>
          </a:p>
          <a:p>
            <a:r>
              <a:t>3</a:t>
            </a:r>
          </a:p>
          <a:p>
            <a:r>
              <a:t>Nível 3 · Orquestrar</a:t>
            </a:r>
          </a:p>
          <a:p>
            <a:r>
              <a:t>Agentes em produção</a:t>
            </a:r>
          </a:p>
          <a:p>
            <a:r>
              <a:t>FABIO AKITA</a:t>
            </a:r>
          </a:p>
          <a:p>
            <a:r>
              <a:t>Minha experiência com Agile Vibe Coding</a:t>
            </a:r>
          </a:p>
          <a:p>
            <a:r>
              <a:t>37 dias com agentes em produção · 58 min</a:t>
            </a:r>
          </a:p>
          <a:p>
            <a:r>
              <a:t>FULL CYCLE</a:t>
            </a:r>
          </a:p>
          <a:p>
            <a:r>
              <a:t>Criando agentes de IA com LangChain</a:t>
            </a:r>
          </a:p>
          <a:p>
            <a:r>
              <a:t>Chains, ferramentas e agentes ReAct</a:t>
            </a:r>
          </a:p>
          <a:p>
            <a:r>
              <a:t>FULL CYCLE</a:t>
            </a:r>
          </a:p>
          <a:p>
            <a:r>
              <a:t>Subagentes no Claude Code na prática</a:t>
            </a:r>
          </a:p>
          <a:p>
            <a:r>
              <a:t>Raio-X de arquitetura e dependências</a:t>
            </a:r>
          </a:p>
          <a:p>
            <a:r>
              <a:t>FULL CYCLE</a:t>
            </a:r>
          </a:p>
          <a:p>
            <a:r>
              <a:t>Agentes na prática: analisa logs e abre issues</a:t>
            </a:r>
          </a:p>
          <a:p>
            <a:r>
              <a:t>Agente com ferramentas reais</a:t>
            </a:r>
          </a:p>
          <a:p>
            <a:r>
              <a:t>DEBORAH FOLLONI</a:t>
            </a:r>
          </a:p>
          <a:p>
            <a:r>
              <a:t>O dev que criou a Skill mais baixada do Claude Code</a:t>
            </a:r>
          </a:p>
          <a:p>
            <a:r>
              <a:t>Como uma Skill de verdade é construída</a:t>
            </a:r>
          </a:p>
          <a:p>
            <a:r>
              <a:t>Use em: engenharia reversa de sistemas, modernização e agentes internos.</a:t>
            </a:r>
          </a:p>
          <a:p>
            <a:r>
              <a:t>4</a:t>
            </a:r>
          </a:p>
          <a:p>
            <a:r>
              <a:t>Nível 4 · Consultoria</a:t>
            </a:r>
          </a:p>
          <a:p>
            <a:r>
              <a:t>PMO, processos e sistemas</a:t>
            </a:r>
          </a:p>
          <a:p>
            <a:r>
              <a:t>MÁRIO TRENTIM</a:t>
            </a:r>
          </a:p>
          <a:p>
            <a:r>
              <a:t>Workshop: gestão de projetos usando IA</a:t>
            </a:r>
          </a:p>
          <a:p>
            <a:r>
              <a:t>Escopo, riscos e cronograma com IA</a:t>
            </a:r>
          </a:p>
          <a:p>
            <a:r>
              <a:t>CURSO EM VÍDEO</a:t>
            </a:r>
          </a:p>
          <a:p>
            <a:r>
              <a:t>Planejamento e gestão de projetos com IA</a:t>
            </a:r>
          </a:p>
          <a:p>
            <a:r>
              <a:t>PMO operacional apoiado por IA</a:t>
            </a:r>
          </a:p>
          <a:p>
            <a:r>
              <a:t>HASHTAG PROGRAMAÇÃO</a:t>
            </a:r>
          </a:p>
          <a:p>
            <a:r>
              <a:t>Agente de IA com RAG (LangChain)</a:t>
            </a:r>
          </a:p>
          <a:p>
            <a:r>
              <a:t>Consultar contratos e PDFs: base para due diligence</a:t>
            </a:r>
          </a:p>
          <a:p>
            <a:r>
              <a:t>AFONSO LOPES</a:t>
            </a:r>
          </a:p>
          <a:p>
            <a:r>
              <a:t>Agentes e automação para empresas (canal)</a:t>
            </a:r>
          </a:p>
          <a:p>
            <a:r>
              <a:t>Levantamento, proposta e implantação no cliente</a:t>
            </a:r>
          </a:p>
          <a:p>
            <a:r>
              <a:t>MÁRIO TRENTIM</a:t>
            </a:r>
          </a:p>
          <a:p>
            <a:r>
              <a:t>Gestão de projetos &amp; tecnologia (canal)</a:t>
            </a:r>
          </a:p>
          <a:p>
            <a:r>
              <a:t>Riscos, cronograma e PMO com IA</a:t>
            </a:r>
          </a:p>
          <a:p>
            <a:r>
              <a:t>Use em: PMO, relatórios de status, riscos, processos e diligências.</a:t>
            </a:r>
          </a:p>
          <a:p>
            <a:r>
              <a:t>Aleatório</a:t>
            </a:r>
          </a:p>
          <a:p>
            <a:r>
              <a:t>DESIGN</a:t>
            </a:r>
          </a:p>
          <a:p>
            <a:r>
              <a:t>SISTEMAS</a:t>
            </a:r>
          </a:p>
          <a:p>
            <a:r>
              <a:t>JOGOS</a:t>
            </a:r>
          </a:p>
          <a:p>
            <a:r>
              <a:t>DADOS</a:t>
            </a:r>
          </a:p>
          <a:p>
            <a:r>
              <a:t>AUTOMAÇÃO</a:t>
            </a:r>
          </a:p>
          <a:p>
            <a:r>
              <a:t>▶ Curso completo de Figma: UX/UI do básico ao avançado</a:t>
            </a:r>
          </a:p>
          <a:p>
            <a:r>
              <a:t>Categoria Design · role de novo para outra sugestão</a:t>
            </a:r>
          </a:p>
          <a:p>
            <a:r>
              <a:t>Curadoria: vídeos gratuitos em PT-BR no YouTube · links verificados em out/2026</a:t>
            </a:r>
          </a:p>
          <a:p>
            <a:r>
              <a:t>5/6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Página 07 do caderno, o Retrato Falado. 23 pessoas escreveram um prompt de caricatura e só 14 marcaram quem retrataram. As outras 11 foram identificadas pelas características descritas, com indicação de certeza, provável ou palpite. Passe o mouse em cada caricatura para ver quem desenhou.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MURAL DO RETRATO FALADO</a:t>
            </a:r>
          </a:p>
          <a:p>
            <a:r>
              <a:t>Bônus · Página 07 do caderno</a:t>
            </a:r>
          </a:p>
          <a:p>
            <a:r>
              <a:t>Diagnóstico IA · DTS</a:t>
            </a:r>
          </a:p>
          <a:p>
            <a:r>
              <a:t>6/6</a:t>
            </a:r>
          </a:p>
          <a:p>
            <a:r>
              <a:t>RETRATO FALADO DTS · QUEM DESENHOU QUEM</a:t>
            </a:r>
          </a:p>
          <a:p>
            <a:r>
              <a:t>Passe o mouse em cada caricatura</a:t>
            </a:r>
          </a:p>
          <a:p>
            <a:r>
              <a:t>5× retratada</a:t>
            </a:r>
          </a:p>
          <a:p>
            <a:r>
              <a:t>Ana Paula Costa</a:t>
            </a:r>
          </a:p>
          <a:p>
            <a:r>
              <a:t>Volume de cabelo: nível Multiplicação</a:t>
            </a:r>
          </a:p>
          <a:p>
            <a:r>
              <a:t>4× retratado</a:t>
            </a:r>
          </a:p>
          <a:p>
            <a:r>
              <a:t>18 PRO</a:t>
            </a:r>
          </a:p>
          <a:p>
            <a:r>
              <a:t>Guilherme Antonialli</a:t>
            </a:r>
          </a:p>
          <a:p>
            <a:r>
              <a:t>Johnny Bravo de Tupã, com lulu e iPhone 18 no bolso</a:t>
            </a:r>
          </a:p>
          <a:p>
            <a:r>
              <a:t>3× retratado</a:t>
            </a:r>
          </a:p>
          <a:p>
            <a:r>
              <a:t>Thiago Vieira</a:t>
            </a:r>
          </a:p>
          <a:p>
            <a:r>
              <a:t>Já chega com o deck pronto</a:t>
            </a:r>
          </a:p>
          <a:p>
            <a:r>
              <a:t>3× retratado</a:t>
            </a:r>
          </a:p>
          <a:p>
            <a:r>
              <a:t>♪</a:t>
            </a:r>
          </a:p>
          <a:p>
            <a:r>
              <a:t>♫</a:t>
            </a:r>
          </a:p>
          <a:p>
            <a:r>
              <a:t>♪</a:t>
            </a:r>
          </a:p>
          <a:p>
            <a:r>
              <a:t>João Lopes</a:t>
            </a:r>
          </a:p>
          <a:p>
            <a:r>
              <a:t>O cantor oficial de DTS: pagode no Tio Sam</a:t>
            </a:r>
          </a:p>
          <a:p>
            <a:r>
              <a:t>3× retratado</a:t>
            </a:r>
          </a:p>
          <a:p>
            <a:r>
              <a:t>SELFIE</a:t>
            </a:r>
          </a:p>
          <a:p>
            <a:r>
              <a:t>Marcos Massao</a:t>
            </a:r>
          </a:p>
          <a:p>
            <a:r>
              <a:t>Se autorretratou. Duas vezes.</a:t>
            </a:r>
          </a:p>
          <a:p>
            <a:r>
              <a:t>2× retratada</a:t>
            </a:r>
          </a:p>
          <a:p>
            <a:r>
              <a:t>mangá!</a:t>
            </a:r>
          </a:p>
          <a:p>
            <a:r>
              <a:t>Talita Galvão</a:t>
            </a:r>
          </a:p>
          <a:p>
            <a:r>
              <a:t>Modo mangá: ativado</a:t>
            </a:r>
          </a:p>
          <a:p>
            <a:r>
              <a:t>2× retratado</a:t>
            </a:r>
          </a:p>
          <a:p>
            <a:r>
              <a:t>?</a:t>
            </a:r>
          </a:p>
          <a:p>
            <a:r>
              <a:t>Alexandre Domingues</a:t>
            </a:r>
          </a:p>
          <a:p>
            <a:r>
              <a:t>O retrato que ficou em branco</a:t>
            </a:r>
          </a:p>
          <a:p>
            <a:r>
              <a:t>1× retratado</a:t>
            </a:r>
          </a:p>
          <a:p>
            <a:r>
              <a:t>DTS</a:t>
            </a:r>
          </a:p>
          <a:p>
            <a:r>
              <a:t>caderno</a:t>
            </a:r>
          </a:p>
          <a:p>
            <a:r>
              <a:t>Victor Vitorino</a:t>
            </a:r>
          </a:p>
          <a:p>
            <a:r>
              <a:t>Expressão “séria”, dono do caderno</a:t>
            </a:r>
          </a:p>
          <a:p>
            <a:r>
              <a:t>1× retratada</a:t>
            </a:r>
          </a:p>
          <a:p>
            <a:r>
              <a:t>♪</a:t>
            </a:r>
          </a:p>
          <a:p>
            <a:r>
              <a:t>Laís Velame</a:t>
            </a:r>
          </a:p>
          <a:p>
            <a:r>
              <a:t>Fora do mural, dentro do samba rock</a:t>
            </a:r>
          </a:p>
          <a:p>
            <a:r>
              <a:t>23</a:t>
            </a:r>
          </a:p>
          <a:p>
            <a:r>
              <a:t>retratos falados</a:t>
            </a:r>
          </a:p>
          <a:p>
            <a:r>
              <a:t>escritos</a:t>
            </a:r>
          </a:p>
          <a:p>
            <a:r>
              <a:t>17 reescreveram e a estrutura do prompt subiu +24 pts</a:t>
            </a:r>
          </a:p>
          <a:p>
            <a:r>
              <a:t>INVESTIGAÇÃO · QUEM NÃO MARCOU E DESENHOU QUEM</a:t>
            </a:r>
          </a:p>
          <a:p>
            <a:r>
              <a:t>Alexandre Domingues</a:t>
            </a:r>
          </a:p>
          <a:p>
            <a:r>
              <a:t>→</a:t>
            </a:r>
          </a:p>
          <a:p>
            <a:r>
              <a:t>Victor Vitorino · citou “Victor”</a:t>
            </a:r>
          </a:p>
          <a:p>
            <a:r>
              <a:t>CERTEZA</a:t>
            </a:r>
          </a:p>
          <a:p>
            <a:r>
              <a:t>Abner Barreto</a:t>
            </a:r>
          </a:p>
          <a:p>
            <a:r>
              <a:t>→</a:t>
            </a:r>
          </a:p>
          <a:p>
            <a:r>
              <a:t>Laís Velame (fora do mural) · citou “a lais”</a:t>
            </a:r>
          </a:p>
          <a:p>
            <a:r>
              <a:t>CERTEZA</a:t>
            </a:r>
          </a:p>
          <a:p>
            <a:r>
              <a:t>Thais Correia Rosa</a:t>
            </a:r>
          </a:p>
          <a:p>
            <a:r>
              <a:t>→</a:t>
            </a:r>
          </a:p>
          <a:p>
            <a:r>
              <a:t>Marcos Massao · citou no 2º rascunho</a:t>
            </a:r>
          </a:p>
          <a:p>
            <a:r>
              <a:t>CERTEZA</a:t>
            </a:r>
          </a:p>
          <a:p>
            <a:r>
              <a:t>Julio Feijo</a:t>
            </a:r>
          </a:p>
          <a:p>
            <a:r>
              <a:t>→</a:t>
            </a:r>
          </a:p>
          <a:p>
            <a:r>
              <a:t>Ana Paula Costa · ondas + mechas caramelo</a:t>
            </a:r>
          </a:p>
          <a:p>
            <a:r>
              <a:t>CERTEZA</a:t>
            </a:r>
          </a:p>
          <a:p>
            <a:r>
              <a:t>Natalia Topa</a:t>
            </a:r>
          </a:p>
          <a:p>
            <a:r>
              <a:t>→</a:t>
            </a:r>
          </a:p>
          <a:p>
            <a:r>
              <a:t>Thiago Vieira · óculos + barba + sorrisão</a:t>
            </a:r>
          </a:p>
          <a:p>
            <a:r>
              <a:t>PROVÁVEL</a:t>
            </a:r>
          </a:p>
          <a:p>
            <a:r>
              <a:t>Vinicius de Sousa</a:t>
            </a:r>
          </a:p>
          <a:p>
            <a:r>
              <a:t>→</a:t>
            </a:r>
          </a:p>
          <a:p>
            <a:r>
              <a:t>Ana Paula Costa · sorriso largo + maçãs</a:t>
            </a:r>
          </a:p>
          <a:p>
            <a:r>
              <a:t>PROVÁVEL</a:t>
            </a:r>
          </a:p>
          <a:p>
            <a:r>
              <a:t>Ana Carolina Godeia</a:t>
            </a:r>
          </a:p>
          <a:p>
            <a:r>
              <a:t>→</a:t>
            </a:r>
          </a:p>
          <a:p>
            <a:r>
              <a:t>Talita Galvão · cabelo liso, repartido</a:t>
            </a:r>
          </a:p>
          <a:p>
            <a:r>
              <a:t>PROVÁVEL</a:t>
            </a:r>
          </a:p>
          <a:p>
            <a:r>
              <a:t>Guilherme Tanaka</a:t>
            </a:r>
          </a:p>
          <a:p>
            <a:r>
              <a:t>→</a:t>
            </a:r>
          </a:p>
          <a:p>
            <a:r>
              <a:t>Guilherme Antonialli · barba e cabelo pretos</a:t>
            </a:r>
          </a:p>
          <a:p>
            <a:r>
              <a:t>PALPITE</a:t>
            </a:r>
          </a:p>
          <a:p>
            <a:r>
              <a:t>Rodrigo Brea</a:t>
            </a:r>
          </a:p>
          <a:p>
            <a:r>
              <a:t>→</a:t>
            </a:r>
          </a:p>
          <a:p>
            <a:r>
              <a:t>Guilherme Antonialli · rosto redondo, sobrancelhas</a:t>
            </a:r>
          </a:p>
          <a:p>
            <a:r>
              <a:t>PALPITE</a:t>
            </a:r>
          </a:p>
          <a:p>
            <a:r>
              <a:t>Pedro H. Ramos</a:t>
            </a:r>
          </a:p>
          <a:p>
            <a:r>
              <a:t>→</a:t>
            </a:r>
          </a:p>
          <a:p>
            <a:r>
              <a:t>Alexandre Domingues · rosto fino, magro</a:t>
            </a:r>
          </a:p>
          <a:p>
            <a:r>
              <a:t>PALPITE</a:t>
            </a:r>
          </a:p>
          <a:p>
            <a:r>
              <a:t>Pedro Lanzetta</a:t>
            </a:r>
          </a:p>
          <a:p>
            <a:r>
              <a:t>→</a:t>
            </a:r>
          </a:p>
          <a:p>
            <a:r>
              <a:t>não bate com o mural · autorretrato? 😄</a:t>
            </a:r>
          </a:p>
          <a:p>
            <a:r>
              <a:t>PALPITE</a:t>
            </a:r>
          </a:p>
          <a:p>
            <a:r>
              <a:t>Fonte: prompts da página 07 do caderno · caricaturas geradas a partir das descrições do time</a:t>
            </a:r>
          </a:p>
          <a:p>
            <a:r>
              <a:t>6/6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youtube.com/watch?v=1VDcke66TRE" TargetMode="External"/><Relationship Id="rId4" Type="http://schemas.openxmlformats.org/officeDocument/2006/relationships/hyperlink" Target="https://www.youtube.com/watch?v=M0buLwTSHq0" TargetMode="External"/><Relationship Id="rId5" Type="http://schemas.openxmlformats.org/officeDocument/2006/relationships/hyperlink" Target="https://www.youtube.com/watch?v=pyb3G0z1m7c" TargetMode="External"/><Relationship Id="rId6" Type="http://schemas.openxmlformats.org/officeDocument/2006/relationships/hyperlink" Target="https://www.youtube.com/watch?v=XcY8fJDNyBY" TargetMode="External"/><Relationship Id="rId7" Type="http://schemas.openxmlformats.org/officeDocument/2006/relationships/hyperlink" Target="https://www.youtube.com/watch?v=561e_hRXci8" TargetMode="External"/><Relationship Id="rId8" Type="http://schemas.openxmlformats.org/officeDocument/2006/relationships/hyperlink" Target="https://www.youtube.com/watch?v=I5RLz75eKU4" TargetMode="External"/><Relationship Id="rId9" Type="http://schemas.openxmlformats.org/officeDocument/2006/relationships/hyperlink" Target="https://www.youtube.com/watch?v=Ea5yaWGqoHQ" TargetMode="External"/><Relationship Id="rId10" Type="http://schemas.openxmlformats.org/officeDocument/2006/relationships/hyperlink" Target="https://www.youtube.com/watch?v=NH_NtrN2BEs" TargetMode="External"/><Relationship Id="rId11" Type="http://schemas.openxmlformats.org/officeDocument/2006/relationships/hyperlink" Target="https://www.youtube.com/watch?v=h_l8wCr7M2Q" TargetMode="External"/><Relationship Id="rId12" Type="http://schemas.openxmlformats.org/officeDocument/2006/relationships/hyperlink" Target="https://www.youtube.com/watch?v=BcLtqQ3JlMU" TargetMode="External"/><Relationship Id="rId13" Type="http://schemas.openxmlformats.org/officeDocument/2006/relationships/hyperlink" Target="https://www.youtube.com/watch?v=U3bZavG8qQY" TargetMode="External"/><Relationship Id="rId14" Type="http://schemas.openxmlformats.org/officeDocument/2006/relationships/hyperlink" Target="https://www.youtube.com/watch?v=jnEmWGmXx8Y" TargetMode="External"/><Relationship Id="rId15" Type="http://schemas.openxmlformats.org/officeDocument/2006/relationships/hyperlink" Target="https://www.youtube.com/watch?v=YtFNz1DtDdo" TargetMode="External"/><Relationship Id="rId16" Type="http://schemas.openxmlformats.org/officeDocument/2006/relationships/hyperlink" Target="https://www.youtube.com/watch?v=hnTX9W0YGAE" TargetMode="External"/><Relationship Id="rId17" Type="http://schemas.openxmlformats.org/officeDocument/2006/relationships/hyperlink" Target="https://www.youtube.com/watch?v=rQ61RGI3DFk" TargetMode="External"/><Relationship Id="rId18" Type="http://schemas.openxmlformats.org/officeDocument/2006/relationships/hyperlink" Target="https://www.youtube.com/watch?v=9648l3d4HFc" TargetMode="External"/><Relationship Id="rId19" Type="http://schemas.openxmlformats.org/officeDocument/2006/relationships/hyperlink" Target="https://www.youtube.com/watch?v=YGa4elddiug" TargetMode="External"/><Relationship Id="rId20" Type="http://schemas.openxmlformats.org/officeDocument/2006/relationships/hyperlink" Target="https://www.youtube.com/watch?v=0M8iO5ykY-E" TargetMode="External"/><Relationship Id="rId21" Type="http://schemas.openxmlformats.org/officeDocument/2006/relationships/hyperlink" Target="https://www.youtube.com/@afonsoautomacoes_ia/videos" TargetMode="External"/><Relationship Id="rId22" Type="http://schemas.openxmlformats.org/officeDocument/2006/relationships/hyperlink" Target="https://www.youtube.com/channel/UCW4md7iNrIj46mZuO7RyFGw/videos" TargetMode="External"/><Relationship Id="rId23" Type="http://schemas.openxmlformats.org/officeDocument/2006/relationships/hyperlink" Target="https://www.youtube.com/watch?v=XCIeljTsCVI" TargetMode="External"/><Relationship Id="rId2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31242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242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312420" y="2919650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312420" y="357616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31242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327660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327660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327660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327660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3276600" y="3972401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13"/>
          </p:cNvPr>
          <p:cNvSpPr/>
          <p:nvPr/>
        </p:nvSpPr>
        <p:spPr>
          <a:xfrm>
            <a:off x="624078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hlinkClick r:id="rId14"/>
          </p:cNvPr>
          <p:cNvSpPr/>
          <p:nvPr/>
        </p:nvSpPr>
        <p:spPr>
          <a:xfrm>
            <a:off x="624078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r:id="rId15"/>
          </p:cNvPr>
          <p:cNvSpPr/>
          <p:nvPr/>
        </p:nvSpPr>
        <p:spPr>
          <a:xfrm>
            <a:off x="624078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r:id="rId16"/>
          </p:cNvPr>
          <p:cNvSpPr/>
          <p:nvPr/>
        </p:nvSpPr>
        <p:spPr>
          <a:xfrm>
            <a:off x="6240780" y="3446025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>
            <a:hlinkClick r:id="rId17"/>
          </p:cNvPr>
          <p:cNvSpPr/>
          <p:nvPr/>
        </p:nvSpPr>
        <p:spPr>
          <a:xfrm>
            <a:off x="624078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r:id="rId18"/>
          </p:cNvPr>
          <p:cNvSpPr/>
          <p:nvPr/>
        </p:nvSpPr>
        <p:spPr>
          <a:xfrm>
            <a:off x="920496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r:id="rId19"/>
          </p:cNvPr>
          <p:cNvSpPr/>
          <p:nvPr/>
        </p:nvSpPr>
        <p:spPr>
          <a:xfrm>
            <a:off x="920496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>
            <a:hlinkClick r:id="rId20"/>
          </p:cNvPr>
          <p:cNvSpPr/>
          <p:nvPr/>
        </p:nvSpPr>
        <p:spPr>
          <a:xfrm>
            <a:off x="920496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>
            <a:hlinkClick r:id="rId21"/>
          </p:cNvPr>
          <p:cNvSpPr/>
          <p:nvPr/>
        </p:nvSpPr>
        <p:spPr>
          <a:xfrm>
            <a:off x="920496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r:id="rId22"/>
          </p:cNvPr>
          <p:cNvSpPr/>
          <p:nvPr/>
        </p:nvSpPr>
        <p:spPr>
          <a:xfrm>
            <a:off x="9204960" y="397240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hlinkClick r:id="rId23"/>
          </p:cNvPr>
          <p:cNvSpPr/>
          <p:nvPr/>
        </p:nvSpPr>
        <p:spPr>
          <a:xfrm>
            <a:off x="1429464" y="6301740"/>
            <a:ext cx="8476535" cy="152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