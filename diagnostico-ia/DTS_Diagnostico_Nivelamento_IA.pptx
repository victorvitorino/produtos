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 este slide: Capa da devolutiva do Caderno de Nivelamento DTS. O visual segue o caderno que o time respondeu: página azul à esquerda e papel quadriculado à direita. Clique em um item do sumário para ir direto à página.</a:t>
            </a:r>
          </a:p>
          <a:p/>
          <a:p>
            <a:r>
              <a:t>— Conteúdo —</a:t>
            </a:r>
          </a:p>
          <a:p>
            <a:r>
              <a:t>ALVAREZ &amp; MARSAL · DTS · NIVELAMENTO IA</a:t>
            </a:r>
          </a:p>
          <a:p>
            <a:r>
              <a:t>Caderno de Nivelamento DTS</a:t>
            </a:r>
          </a:p>
          <a:p>
            <a:r>
              <a:t>Resultados e próximos passos</a:t>
            </a:r>
          </a:p>
          <a:p>
            <a:r>
              <a:t>25 cadernos concluídos. O que descobrimos sobre como o time usa IA hoje, o que falta para delegar a agentes e por onde seguimos a partir de agora.</a:t>
            </a:r>
          </a:p>
          <a:p>
            <a:r>
              <a:t>ALVAREZ &amp; MARSAL</a:t>
            </a:r>
          </a:p>
          <a:p>
            <a:r>
              <a:t>DIGITAL &amp; TECHNOLOGY SERVICES</a:t>
            </a:r>
          </a:p>
          <a:p>
            <a:r>
              <a:t>Antes de começar: isto não é um ranking. É uma fotografia do time para decidir juntos os próximos passos.</a:t>
            </a:r>
          </a:p>
          <a:p>
            <a:r>
              <a:t>01</a:t>
            </a:r>
          </a:p>
          <a:p>
            <a:r>
              <a:t>Resultados</a:t>
            </a:r>
          </a:p>
          <a:p>
            <a:r>
              <a:t>onde estamos</a:t>
            </a:r>
          </a:p>
          <a:p>
            <a:r>
              <a:t>02</a:t>
            </a:r>
          </a:p>
          <a:p>
            <a:r>
              <a:t>Delegar</a:t>
            </a:r>
          </a:p>
          <a:p>
            <a:r>
              <a:t>pedir × delegar</a:t>
            </a:r>
          </a:p>
          <a:p>
            <a:r>
              <a:t>03</a:t>
            </a:r>
          </a:p>
          <a:p>
            <a:r>
              <a:t>Hiper performance</a:t>
            </a:r>
          </a:p>
          <a:p>
            <a:r>
              <a:t>casos reais e ROI</a:t>
            </a:r>
          </a:p>
          <a:p>
            <a:r>
              <a:t>04</a:t>
            </a:r>
          </a:p>
          <a:p>
            <a:r>
              <a:t>Ferramentas e modelos</a:t>
            </a:r>
          </a:p>
          <a:p>
            <a:r>
              <a:t>qual usar e quanto consome</a:t>
            </a:r>
          </a:p>
          <a:p>
            <a:r>
              <a:t>05</a:t>
            </a:r>
          </a:p>
          <a:p>
            <a:r>
              <a:t>Trilha livre</a:t>
            </a:r>
          </a:p>
          <a:p>
            <a:r>
              <a:t>estude no seu ritmo</a:t>
            </a:r>
          </a:p>
          <a:p>
            <a:r>
              <a:t>06</a:t>
            </a:r>
          </a:p>
          <a:p>
            <a:r>
              <a:t>Mural</a:t>
            </a:r>
          </a:p>
          <a:p>
            <a:r>
              <a:t>retrato falado</a:t>
            </a:r>
          </a:p>
          <a:p>
            <a:r>
              <a:t>DOCUMENTO PARA DISCUSSÃO · OUT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 este slide: Índice consolidado: combina o que cada pessoa disse fazer com o que ela demonstrou nas 6 brincadeiras do caderno. As brincadeiras pesam mais. </a:t>
            </a:r>
          </a:p>
          <a:p/>
          <a:p>
            <a:r>
              <a:t>Adoção: considera os 33 convidados da lista do encontro. </a:t>
            </a:r>
          </a:p>
          <a:p/>
          <a:p>
            <a:r>
              <a:t>Faixas: Ponto de partida (0–20), Exploração (21–40), Evolução (41–60), Autonomia (61–80) e Multiplicação (81–100).</a:t>
            </a:r>
          </a:p>
          <a:p/>
          <a:p>
            <a:r>
              <a:t>— Conteúdo —</a:t>
            </a:r>
          </a:p>
          <a:p>
            <a:r>
              <a:t>ALVAREZ &amp; MARSAL</a:t>
            </a:r>
          </a:p>
          <a:p>
            <a:r>
              <a:t>DTS · NIVELAMENTO IA</a:t>
            </a:r>
          </a:p>
          <a:p>
            <a:r>
              <a:t>RESULTADOS</a:t>
            </a:r>
          </a:p>
          <a:p>
            <a:r>
              <a:t>Parte 1 · Onde DTS está hoje</a:t>
            </a:r>
          </a:p>
          <a:p>
            <a:r>
              <a:t>Diagnóstico IA · DTS</a:t>
            </a:r>
          </a:p>
          <a:p>
            <a:r>
              <a:t>1/6</a:t>
            </a:r>
          </a:p>
          <a:p>
            <a:r>
              <a:t>RESULTADO DO CADERNO · ONDE ESTAMOS</a:t>
            </a:r>
          </a:p>
          <a:p>
            <a:r>
              <a:t>25 cadernos concluídos · 33 convidados</a:t>
            </a:r>
          </a:p>
          <a:p>
            <a:r>
              <a:t>ÍNDICE CONSOLIDADO DTS</a:t>
            </a:r>
          </a:p>
          <a:p>
            <a:r>
              <a:t>FAIXA AUTONOMIA</a:t>
            </a:r>
          </a:p>
          <a:p>
            <a:r>
              <a:t>78,6%</a:t>
            </a:r>
          </a:p>
          <a:p>
            <a:r>
              <a:t>O time já usa IA com independência.</a:t>
            </a:r>
          </a:p>
          <a:p>
            <a:r>
              <a:t>Usa Claude, FLOWS e Skills no dia a dia sem depender de ajuda. O próximo degrau, Multiplicação (81%+), é transformar esse uso em Skills, Métodos e agentes que o time inteiro reutiliza.</a:t>
            </a:r>
          </a:p>
          <a:p>
            <a:r>
              <a:t>DTS 78,6</a:t>
            </a:r>
          </a:p>
          <a:p>
            <a:r>
              <a:t>0</a:t>
            </a:r>
          </a:p>
          <a:p>
            <a:r>
              <a:t>20</a:t>
            </a:r>
          </a:p>
          <a:p>
            <a:r>
              <a:t>40</a:t>
            </a:r>
          </a:p>
          <a:p>
            <a:r>
              <a:t>60</a:t>
            </a:r>
          </a:p>
          <a:p>
            <a:r>
              <a:t>80</a:t>
            </a:r>
          </a:p>
          <a:p>
            <a:r>
              <a:t>100</a:t>
            </a:r>
          </a:p>
          <a:p>
            <a:r>
              <a:t>Termômetro do time: cada traço é uma pessoa · laranja = já em Multiplicação</a:t>
            </a:r>
          </a:p>
          <a:p>
            <a:r>
              <a:t>ADOÇÃO DO CADERNO</a:t>
            </a:r>
          </a:p>
          <a:p>
            <a:r>
              <a:t>8 PESSOAS FORA</a:t>
            </a:r>
          </a:p>
          <a:p>
            <a:r>
              <a:t>Convidados</a:t>
            </a:r>
          </a:p>
          <a:p>
            <a:r>
              <a:t>33</a:t>
            </a:r>
          </a:p>
          <a:p>
            <a:r>
              <a:t>100%</a:t>
            </a:r>
          </a:p>
          <a:p>
            <a:r>
              <a:t>Iniciaram</a:t>
            </a:r>
          </a:p>
          <a:p>
            <a:r>
              <a:t>29</a:t>
            </a:r>
          </a:p>
          <a:p>
            <a:r>
              <a:t>88%</a:t>
            </a:r>
          </a:p>
          <a:p>
            <a:r>
              <a:t>Concluíram</a:t>
            </a:r>
          </a:p>
          <a:p>
            <a:r>
              <a:t>25</a:t>
            </a:r>
          </a:p>
          <a:p>
            <a:r>
              <a:t>76%</a:t>
            </a:r>
          </a:p>
          <a:p>
            <a:r>
              <a:t>Não concluíram</a:t>
            </a:r>
          </a:p>
          <a:p>
            <a:r>
              <a:t>8</a:t>
            </a:r>
          </a:p>
          <a:p>
            <a:r>
              <a:t>24%</a:t>
            </a:r>
          </a:p>
          <a:p>
            <a:r>
              <a:t>4</a:t>
            </a:r>
          </a:p>
          <a:p>
            <a:r>
              <a:t>pararam no meio</a:t>
            </a:r>
          </a:p>
          <a:p>
            <a:r>
              <a:t>4</a:t>
            </a:r>
          </a:p>
          <a:p>
            <a:r>
              <a:t>nem abriram</a:t>
            </a:r>
          </a:p>
          <a:p>
            <a:r>
              <a:t>85%</a:t>
            </a:r>
          </a:p>
          <a:p>
            <a:r>
              <a:t>dos que ignoraram o convite concluíram</a:t>
            </a:r>
          </a:p>
          <a:p>
            <a:r>
              <a:t>ONDE DTS SE ENCONTRA</a:t>
            </a:r>
          </a:p>
          <a:p>
            <a:r>
              <a:t>pessoas por faixa</a:t>
            </a:r>
          </a:p>
          <a:p>
            <a:r>
              <a:t>0</a:t>
            </a:r>
          </a:p>
          <a:p>
            <a:r>
              <a:t>PONTO DE PARTIDA</a:t>
            </a:r>
          </a:p>
          <a:p>
            <a:r>
              <a:t>0–20</a:t>
            </a:r>
          </a:p>
          <a:p>
            <a:r>
              <a:t>0</a:t>
            </a:r>
          </a:p>
          <a:p>
            <a:r>
              <a:t>EXPLORAÇÃO</a:t>
            </a:r>
          </a:p>
          <a:p>
            <a:r>
              <a:t>21–40</a:t>
            </a:r>
          </a:p>
          <a:p>
            <a:r>
              <a:t>1</a:t>
            </a:r>
          </a:p>
          <a:p>
            <a:r>
              <a:t>EVOLUÇÃO</a:t>
            </a:r>
          </a:p>
          <a:p>
            <a:r>
              <a:t>41–60</a:t>
            </a:r>
          </a:p>
          <a:p>
            <a:r>
              <a:t>DTS · 78,6</a:t>
            </a:r>
          </a:p>
          <a:p>
            <a:r>
              <a:t>14</a:t>
            </a:r>
          </a:p>
          <a:p>
            <a:r>
              <a:t>AUTONOMIA</a:t>
            </a:r>
          </a:p>
          <a:p>
            <a:r>
              <a:t>61–80</a:t>
            </a:r>
          </a:p>
          <a:p>
            <a:r>
              <a:t>PRÓXIMO DEGRAU</a:t>
            </a:r>
          </a:p>
          <a:p>
            <a:r>
              <a:t>10</a:t>
            </a:r>
          </a:p>
          <a:p>
            <a:r>
              <a:t>MULTIPLICAÇÃO</a:t>
            </a:r>
          </a:p>
          <a:p>
            <a:r>
              <a:t>81–100</a:t>
            </a:r>
          </a:p>
          <a:p>
            <a:r>
              <a:t>24 de 25 pessoas já estão em Autonomia ou Multiplicação. Ninguém ficou nas duas primeiras faixas.</a:t>
            </a:r>
          </a:p>
          <a:p>
            <a:r>
              <a:t>ACHADO Nº 1 · O MAIS IMPORTANTE</a:t>
            </a:r>
          </a:p>
          <a:p>
            <a:r>
              <a:t>O time sabe mais do que acredita saber.</a:t>
            </a:r>
          </a:p>
          <a:p>
            <a:r>
              <a:t>21 de 25 pessoas demonstraram nas brincadeiras mais do que declararam no início. A distância média é de 20 pontos.</a:t>
            </a:r>
          </a:p>
          <a:p>
            <a:r>
              <a:t>Ou seja, o desafio de DTS não é capacidade, é confiança e hábito. Quem se subestima não compartilha, não vira referência e não propõe IA para o cliente. Por isso o próximo passo é prática visível (FLOWS e Skills em todo projeto), e não mais teoria.</a:t>
            </a:r>
          </a:p>
          <a:p>
            <a:r>
              <a:t>64,7</a:t>
            </a:r>
          </a:p>
          <a:p>
            <a:r>
              <a:t>DECLARADO</a:t>
            </a:r>
          </a:p>
          <a:p>
            <a:r>
              <a:t>+20 →</a:t>
            </a:r>
          </a:p>
          <a:p>
            <a:r>
              <a:t>84,6</a:t>
            </a:r>
          </a:p>
          <a:p>
            <a:r>
              <a:t>DEMONSTRADO</a:t>
            </a:r>
          </a:p>
          <a:p>
            <a:r>
              <a:t>ONDE A DISTÂNCIA É MAIOR</a:t>
            </a:r>
          </a:p>
          <a:p>
            <a:r>
              <a:t>Skills &amp; Métodos</a:t>
            </a:r>
          </a:p>
          <a:p>
            <a:r>
              <a:t>+35</a:t>
            </a:r>
          </a:p>
          <a:p>
            <a:r>
              <a:t>Reutilização</a:t>
            </a:r>
          </a:p>
          <a:p>
            <a:r>
              <a:t>+20</a:t>
            </a:r>
          </a:p>
          <a:p>
            <a:r>
              <a:t>Criar &amp; compartilhar</a:t>
            </a:r>
          </a:p>
          <a:p>
            <a:r>
              <a:t>+13</a:t>
            </a:r>
          </a:p>
          <a:p>
            <a:r>
              <a:t>Só 4 pessoas se avaliaram acima do que demonstraram.</a:t>
            </a:r>
          </a:p>
          <a:p>
            <a:r>
              <a:t>Fonte: Caderno de Nivelamento DTS (25 concluídos) · lista de convidados do encontro DTS (33)</a:t>
            </a:r>
          </a:p>
          <a:p>
            <a:r>
              <a:t>1/6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 este slide: Maturidade agêntica foi a dimensão mais baixa do caderno (52). Na página 04, 72% seguiram o caminho “FLOWS → verificar → adaptar” e só 1 pessoa encadeou Método → Skill → Agente. </a:t>
            </a:r>
          </a:p>
          <a:p/>
          <a:p>
            <a:r>
              <a:t>Exemplo: a proposta comercial é ilustrativa. Os nomes do Método e da Skill são sugestões de como organizar no FLOWS. </a:t>
            </a:r>
          </a:p>
          <a:p/>
          <a:p>
            <a:r>
              <a:t>Gráfico: estimativa ilustrativa para uma proposta média de DTS. O ponto central é que IA sem Método ganha tempo, mas perde padrão.</a:t>
            </a:r>
          </a:p>
          <a:p/>
          <a:p>
            <a:r>
              <a:t>— Conteúdo —</a:t>
            </a:r>
          </a:p>
          <a:p>
            <a:r>
              <a:t>ALVAREZ &amp; MARSAL</a:t>
            </a:r>
          </a:p>
          <a:p>
            <a:r>
              <a:t>DTS · NIVELAMENTO IA</a:t>
            </a:r>
          </a:p>
          <a:p>
            <a:r>
              <a:t>DO PEDIDO À DELEGAÇÃO</a:t>
            </a:r>
          </a:p>
          <a:p>
            <a:r>
              <a:t>Parte 2 · O que falta para o próximo degrau</a:t>
            </a:r>
          </a:p>
          <a:p>
            <a:r>
              <a:t>Diagnóstico IA · DTS</a:t>
            </a:r>
          </a:p>
          <a:p>
            <a:r>
              <a:t>2/6</a:t>
            </a:r>
          </a:p>
          <a:p>
            <a:r>
              <a:t>SABEMOS PEDIR · AINDA NÃO SABEMOS DELEGAR</a:t>
            </a:r>
          </a:p>
          <a:p>
            <a:r>
              <a:t>Maturidade agêntica: 52 · a dimensão mais baixa do caderno</a:t>
            </a:r>
          </a:p>
          <a:p>
            <a:r>
              <a:t>🗨️ Pedir</a:t>
            </a:r>
          </a:p>
          <a:p>
            <a:r>
              <a:t>HOJE</a:t>
            </a:r>
          </a:p>
          <a:p>
            <a:r>
              <a:t>Uma pergunta por vez. A IA responde e você faz o resto: copia, cola, formata e confere. Toda vez começa do zero.</a:t>
            </a:r>
          </a:p>
          <a:p>
            <a:r>
              <a:t>🤝 Delegar</a:t>
            </a:r>
          </a:p>
          <a:p>
            <a:r>
              <a:t>PRÓXIMO DEGRAU</a:t>
            </a:r>
          </a:p>
          <a:p>
            <a:r>
              <a:t>Você entrega objetivo, contexto e critério de pronto. O Claude segue um Método e uma Skill, executa as etapas e você audita.</a:t>
            </a:r>
          </a:p>
          <a:p>
            <a:r>
              <a:t>🚀 Regra do kick-off</a:t>
            </a:r>
          </a:p>
          <a:p>
            <a:r>
              <a:t>Todo projeto começa com FLOWS + Skills:</a:t>
            </a:r>
          </a:p>
          <a:p>
            <a:r>
              <a:t>01 achar o Método</a:t>
            </a:r>
          </a:p>
          <a:p>
            <a:r>
              <a:t>02 ativar Skills</a:t>
            </a:r>
          </a:p>
          <a:p>
            <a:r>
              <a:t>03 adaptar</a:t>
            </a:r>
          </a:p>
          <a:p>
            <a:r>
              <a:t>04 registrar o novo</a:t>
            </a:r>
          </a:p>
          <a:p>
            <a:r>
              <a:t>Exemplo · proposta comercial com a Skill proposta-am de 3 dias para meio dia, no padrão A&amp;M</a:t>
            </a:r>
          </a:p>
          <a:p>
            <a:r>
              <a:t>1 · MÉTODO (FLOWS)</a:t>
            </a:r>
          </a:p>
          <a:p>
            <a:r>
              <a:t>A estrutura</a:t>
            </a:r>
          </a:p>
          <a:p>
            <a:r>
              <a:t>Contexto do cliente → diagnóstico → abordagem → fases e cronograma → equipe → honorários → próximos passos.</a:t>
            </a:r>
          </a:p>
          <a:p>
            <a:r>
              <a:t>FLOWS › Comercial › Proposta DTS</a:t>
            </a:r>
          </a:p>
          <a:p>
            <a:r>
              <a:t>2 · SKILL</a:t>
            </a:r>
          </a:p>
          <a:p>
            <a:r>
              <a:t>O padrão A&amp;M</a:t>
            </a:r>
          </a:p>
          <a:p>
            <a:r>
              <a:t>Template visual, tom executivo, cases parecidos, tabela de perfis e regra “sempre 3 opções de escopo”.</a:t>
            </a:r>
          </a:p>
          <a:p>
            <a:r>
              <a:t>skill: proposta-am</a:t>
            </a:r>
          </a:p>
          <a:p>
            <a:r>
              <a:t>3 · DELEGAÇÃO</a:t>
            </a:r>
          </a:p>
          <a:p>
            <a:r>
              <a:t>O pedido certo</a:t>
            </a:r>
          </a:p>
          <a:p>
            <a:r>
              <a:t>“Use a skill proposta-am. A partir da transcrição da reunião e do RFP em anexo, monte a proposta para o CFO com 3 opções de escopo e me liste as dúvidas antes de precificar.”</a:t>
            </a:r>
          </a:p>
          <a:p>
            <a:r>
              <a:t>4 · VOCÊ</a:t>
            </a:r>
          </a:p>
          <a:p>
            <a:r>
              <a:t>Audita e decide</a:t>
            </a:r>
          </a:p>
          <a:p>
            <a:r>
              <a:t>Revisa preço, escopo, riscos e a mensagem para o cliente. O julgamento continua sendo seu.</a:t>
            </a:r>
          </a:p>
          <a:p>
            <a:r>
              <a:t>4h de revisão · e não 3 dias</a:t>
            </a:r>
          </a:p>
          <a:p>
            <a:r>
              <a:t>POR QUE USAR MÉTODOS</a:t>
            </a:r>
          </a:p>
          <a:p>
            <a:r>
              <a:t>13 de 25 usam pouco ou nada</a:t>
            </a:r>
          </a:p>
          <a:p>
            <a:r>
              <a:t>♻️</a:t>
            </a:r>
          </a:p>
          <a:p>
            <a:r>
              <a:t>Não reinventa</a:t>
            </a:r>
          </a:p>
          <a:p>
            <a:r>
              <a:t>Alguém de DTS já resolveu esse problema. O Método é o atalho para começar do melhor ponto.</a:t>
            </a:r>
          </a:p>
          <a:p>
            <a:r>
              <a:t>📐</a:t>
            </a:r>
          </a:p>
          <a:p>
            <a:r>
              <a:t>Padrão A&amp;M</a:t>
            </a:r>
          </a:p>
          <a:p>
            <a:r>
              <a:t>Mesma estrutura e a mesma régua em todo projeto, seja quem for o consultor.</a:t>
            </a:r>
          </a:p>
          <a:p>
            <a:r>
              <a:t>🤖</a:t>
            </a:r>
          </a:p>
          <a:p>
            <a:r>
              <a:t>Sem Método, sem agente</a:t>
            </a:r>
          </a:p>
          <a:p>
            <a:r>
              <a:t>Não dá para delegar o que não está escrito. O Método é o manual que o Claude segue.</a:t>
            </a:r>
          </a:p>
          <a:p>
            <a:r>
              <a:t>⏱️</a:t>
            </a:r>
          </a:p>
          <a:p>
            <a:r>
              <a:t>Onboarding em horas</a:t>
            </a:r>
          </a:p>
          <a:p>
            <a:r>
              <a:t>Quem chega aprende o jeito DTS lendo o Método, sem precisar perguntar para cada pessoa.</a:t>
            </a:r>
          </a:p>
          <a:p>
            <a:r>
              <a:t>Fonte: Caderno DTS · página 04 e maturidade agêntica · exemplo ilustrativo</a:t>
            </a:r>
          </a:p>
          <a:p>
            <a:r>
              <a:t>2/6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 este slide: Como ler: horas por entregável em três cenários. Sem IA, do zero; com IA, do zero; com IA e uma base reaproveitada (Skill, Método, proposta anterior). As horas sem IA são uma premissa de consultoria típica, a calibrar com o timesheet de DTS. Os percentuais vêm de 37 casos verificados na fonte. </a:t>
            </a:r>
          </a:p>
          <a:p/>
          <a:p>
            <a:r>
              <a:t>Mais fortes: Schwarcz et al. 2025 (RCT, carta persuasiva 111→72–82 min); Choi et al. 2024 (RCT, contrato 70→48 min); Peng et al. 2023 (RCT, sistema do zero 161→71 min); Microsoft 2023 (resumo de reunião 43→11 min); Google 2024 (RCT, código corporativo −21%). Os ganhos acima de −56% vêm de casos de empresa ou de estimativa de modelo, por isso cada linha tem nível de confiança. </a:t>
            </a:r>
          </a:p>
          <a:p/>
          <a:p>
            <a:r>
              <a:t>Planos: Pro US$ 20, Max 5x US$ 100, Max 20x US$ 200. O Pro sustenta bem textos e decks, mas tem pouco fôlego para construir dashboards e sistemas no Claude Code (estimativa DTS: 85% e 40% de cobertura). </a:t>
            </a:r>
          </a:p>
          <a:p/>
          <a:p>
            <a:r>
              <a:t>Aproveitamento: estudos de campo mostram que só parte da hora economizada vira valor (mais entregas, menos hora extra). O padrão é 50% e dá para editar.</a:t>
            </a:r>
          </a:p>
          <a:p/>
          <a:p>
            <a:r>
              <a:t>— Conteúdo —</a:t>
            </a:r>
          </a:p>
          <a:p>
            <a:r>
              <a:t>ALVAREZ &amp; MARSAL</a:t>
            </a:r>
          </a:p>
          <a:p>
            <a:r>
              <a:t>DTS · NIVELAMENTO IA</a:t>
            </a:r>
          </a:p>
          <a:p>
            <a:r>
              <a:t>HIPER PERFORMANCE</a:t>
            </a:r>
          </a:p>
          <a:p>
            <a:r>
              <a:t>Parte 2 · Quanto a IA reduz do operacional</a:t>
            </a:r>
          </a:p>
          <a:p>
            <a:r>
              <a:t>Diagnóstico IA · DTS</a:t>
            </a:r>
          </a:p>
          <a:p>
            <a:r>
              <a:t>3/6</a:t>
            </a:r>
          </a:p>
          <a:p>
            <a:r>
              <a:t>O GANHO REAL VEM DA BASE REAPROVEITADA · NÃO SÓ DO PROMPT</a:t>
            </a:r>
          </a:p>
          <a:p>
            <a:r>
              <a:t>37 casos verificados · clique em um plano e o gráfico muda</a:t>
            </a:r>
          </a:p>
          <a:p>
            <a:r>
              <a:t>PLANO 1</a:t>
            </a:r>
          </a:p>
          <a:p>
            <a:r>
              <a:t>US$ 20</a:t>
            </a:r>
          </a:p>
          <a:p>
            <a:r>
              <a:t>por mês</a:t>
            </a:r>
          </a:p>
          <a:p>
            <a:r>
              <a:t>Claude Pro</a:t>
            </a:r>
          </a:p>
          <a:p>
            <a:r>
              <a:t>Textos e decks · pouco fôlego para construir</a:t>
            </a:r>
          </a:p>
          <a:p>
            <a:r>
              <a:t>PLANO 2</a:t>
            </a:r>
          </a:p>
          <a:p>
            <a:r>
              <a:t>US$ 100</a:t>
            </a:r>
          </a:p>
          <a:p>
            <a:r>
              <a:t>por mês</a:t>
            </a:r>
          </a:p>
          <a:p>
            <a:r>
              <a:t>Claude Max 5x</a:t>
            </a:r>
          </a:p>
          <a:p>
            <a:r>
              <a:t>5× o uso do Pro · decks, dashboards, protótipos</a:t>
            </a:r>
          </a:p>
          <a:p>
            <a:r>
              <a:t>PLANO 3</a:t>
            </a:r>
          </a:p>
          <a:p>
            <a:r>
              <a:t>US$ 200</a:t>
            </a:r>
          </a:p>
          <a:p>
            <a:r>
              <a:t>por mês</a:t>
            </a:r>
          </a:p>
          <a:p>
            <a:r>
              <a:t>Claude Max 20x</a:t>
            </a:r>
          </a:p>
          <a:p>
            <a:r>
              <a:t>20× o uso do Pro · Claude Code pesado, sistemas</a:t>
            </a:r>
          </a:p>
          <a:p>
            <a:r>
              <a:t>HORAS POR ENTREGÁVEL</a:t>
            </a:r>
          </a:p>
          <a:p>
            <a:r>
              <a:t>Sem IA</a:t>
            </a:r>
          </a:p>
          <a:p>
            <a:r>
              <a:t>IA do zero</a:t>
            </a:r>
          </a:p>
          <a:p>
            <a:r>
              <a:t>IA + Skill / base</a:t>
            </a:r>
          </a:p>
          <a:p>
            <a:r>
              <a:t>Proposta comercial</a:t>
            </a:r>
          </a:p>
          <a:p>
            <a:r>
              <a:t>10–15 págs · escopo, cronograma e preço</a:t>
            </a:r>
          </a:p>
          <a:p>
            <a:r>
              <a:t>●●○ confiança</a:t>
            </a:r>
          </a:p>
          <a:p>
            <a:r>
              <a:t>16h</a:t>
            </a:r>
          </a:p>
          <a:p>
            <a:r>
              <a:t>10,1h</a:t>
            </a:r>
          </a:p>
          <a:p>
            <a:r>
              <a:t>5,0h</a:t>
            </a:r>
          </a:p>
          <a:p>
            <a:r>
              <a:t>−69%</a:t>
            </a:r>
          </a:p>
          <a:p>
            <a:r>
              <a:t>medido −26% a −35% (RCT) · com base até −90%</a:t>
            </a:r>
          </a:p>
          <a:p>
            <a:r>
              <a:t>PPT com indicadores</a:t>
            </a:r>
          </a:p>
          <a:p>
            <a:r>
              <a:t>~12 slides · 6–8 gráficos</a:t>
            </a:r>
          </a:p>
          <a:p>
            <a:r>
              <a:t>●○○ confiança</a:t>
            </a:r>
          </a:p>
          <a:p>
            <a:r>
              <a:t>10h</a:t>
            </a:r>
          </a:p>
          <a:p>
            <a:r>
              <a:t>5,8h</a:t>
            </a:r>
          </a:p>
          <a:p>
            <a:r>
              <a:t>2,8h</a:t>
            </a:r>
          </a:p>
          <a:p>
            <a:r>
              <a:t>−72%</a:t>
            </a:r>
          </a:p>
          <a:p>
            <a:r>
              <a:t>rascunho −41% (Microsoft) · derivado</a:t>
            </a:r>
          </a:p>
          <a:p>
            <a:r>
              <a:t>Dashboard de indicadores</a:t>
            </a:r>
          </a:p>
          <a:p>
            <a:r>
              <a:t>8–10 KPIs · 2–3 fontes de dados</a:t>
            </a:r>
          </a:p>
          <a:p>
            <a:r>
              <a:t>●○○ confiança</a:t>
            </a:r>
          </a:p>
          <a:p>
            <a:r>
              <a:t>24h</a:t>
            </a:r>
          </a:p>
          <a:p>
            <a:r>
              <a:t>19,2h</a:t>
            </a:r>
          </a:p>
          <a:p>
            <a:r>
              <a:t>16h</a:t>
            </a:r>
          </a:p>
          <a:p>
            <a:r>
              <a:t>−33%</a:t>
            </a:r>
          </a:p>
          <a:p>
            <a:r>
              <a:t>código −16% a −56% (RCTs) · derivado</a:t>
            </a:r>
          </a:p>
          <a:p>
            <a:r>
              <a:t>Sistema simples</a:t>
            </a:r>
          </a:p>
          <a:p>
            <a:r>
              <a:t>app interno · 3–5 telas (protótipo)</a:t>
            </a:r>
          </a:p>
          <a:p>
            <a:r>
              <a:t>●●○ confiança</a:t>
            </a:r>
          </a:p>
          <a:p>
            <a:r>
              <a:t>40h</a:t>
            </a:r>
          </a:p>
          <a:p>
            <a:r>
              <a:t>31,2h</a:t>
            </a:r>
          </a:p>
          <a:p>
            <a:r>
              <a:t>26,4h</a:t>
            </a:r>
          </a:p>
          <a:p>
            <a:r>
              <a:t>−34%</a:t>
            </a:r>
          </a:p>
          <a:p>
            <a:r>
              <a:t>do zero 161 → 71 min (RCT) · produção: só −20% a −40%</a:t>
            </a:r>
          </a:p>
          <a:p>
            <a:r>
              <a:t>Análise de redução de custos</a:t>
            </a:r>
          </a:p>
          <a:p>
            <a:r>
              <a:t>spend de 12 meses · alavancas</a:t>
            </a:r>
          </a:p>
          <a:p>
            <a:r>
              <a:t>●○○ confiança</a:t>
            </a:r>
          </a:p>
          <a:p>
            <a:r>
              <a:t>32h</a:t>
            </a:r>
          </a:p>
          <a:p>
            <a:r>
              <a:t>21,8h</a:t>
            </a:r>
          </a:p>
          <a:p>
            <a:r>
              <a:t>12,5h</a:t>
            </a:r>
          </a:p>
          <a:p>
            <a:r>
              <a:t>−61%</a:t>
            </a:r>
          </a:p>
          <a:p>
            <a:r>
              <a:t>sem RCT · validar sempre os números</a:t>
            </a:r>
          </a:p>
          <a:p>
            <a:r>
              <a:t>Status report semanal</a:t>
            </a:r>
          </a:p>
          <a:p>
            <a:r>
              <a:t>gestão de projetos · por semana</a:t>
            </a:r>
          </a:p>
          <a:p>
            <a:r>
              <a:t>●●○ confiança</a:t>
            </a:r>
          </a:p>
          <a:p>
            <a:r>
              <a:t>3h</a:t>
            </a:r>
          </a:p>
          <a:p>
            <a:r>
              <a:t>1,7h</a:t>
            </a:r>
          </a:p>
          <a:p>
            <a:r>
              <a:t>53 min</a:t>
            </a:r>
          </a:p>
          <a:p>
            <a:r>
              <a:t>−71%</a:t>
            </a:r>
          </a:p>
          <a:p>
            <a:r>
              <a:t>resumo de reunião −74% (Microsoft)</a:t>
            </a:r>
          </a:p>
          <a:p>
            <a:r>
              <a:t>INVESTIMENTO × RETORNO · 12 MESES</a:t>
            </a:r>
          </a:p>
          <a:p>
            <a:r>
              <a:t>R$/h  · câmbio  · aproveit. %</a:t>
            </a:r>
          </a:p>
          <a:p>
            <a:r>
              <a:t>98h → 43h</a:t>
            </a:r>
          </a:p>
          <a:p>
            <a:r>
              <a:t>mês típico* com IA + Skill</a:t>
            </a:r>
          </a:p>
          <a:p>
            <a:r>
              <a:t>98h → 66h</a:t>
            </a:r>
          </a:p>
          <a:p>
            <a:r>
              <a:t>com IA, do zero</a:t>
            </a:r>
          </a:p>
          <a:p>
            <a:r>
              <a:t>R$ 110</a:t>
            </a:r>
          </a:p>
          <a:p>
            <a:r>
              <a:t>investimento por mês</a:t>
            </a:r>
          </a:p>
          <a:p>
            <a:r>
              <a:t>R$ 45.234</a:t>
            </a:r>
          </a:p>
          <a:p>
            <a:r>
              <a:t>retorno líquido em 1 ano</a:t>
            </a:r>
          </a:p>
          <a:p>
            <a:r>
              <a:t>*Mês típico: 1 proposta, 2 PPTs, 1 dashboard, ¼ de sistema, ½ análise de custos e 4 status reports</a:t>
            </a:r>
          </a:p>
          <a:p>
            <a:r>
              <a:t>0</a:t>
            </a:r>
          </a:p>
          <a:p>
            <a:r>
              <a:t>13k</a:t>
            </a:r>
          </a:p>
          <a:p>
            <a:r>
              <a:t>26k</a:t>
            </a:r>
          </a:p>
          <a:p>
            <a:r>
              <a:t>38k</a:t>
            </a:r>
          </a:p>
          <a:p>
            <a:r>
              <a:t>51k</a:t>
            </a:r>
          </a:p>
          <a:p>
            <a:r>
              <a:t>m2</a:t>
            </a:r>
          </a:p>
          <a:p>
            <a:r>
              <a:t>m4</a:t>
            </a:r>
          </a:p>
          <a:p>
            <a:r>
              <a:t>m6</a:t>
            </a:r>
          </a:p>
          <a:p>
            <a:r>
              <a:t>m8</a:t>
            </a:r>
          </a:p>
          <a:p>
            <a:r>
              <a:t>m10</a:t>
            </a:r>
          </a:p>
          <a:p>
            <a:r>
              <a:t>m12</a:t>
            </a:r>
          </a:p>
          <a:p>
            <a:r>
              <a:t>R$ 21.725</a:t>
            </a:r>
          </a:p>
          <a:p>
            <a:r>
              <a:t>R$ 46.554</a:t>
            </a:r>
          </a:p>
          <a:p>
            <a:r>
              <a:t>investimento R$ 1.320</a:t>
            </a:r>
          </a:p>
          <a:p>
            <a:r>
              <a:t>se paga no mês 1</a:t>
            </a:r>
          </a:p>
          <a:p>
            <a:r>
              <a:t>valor das horas liberadas (acumulado)</a:t>
            </a:r>
          </a:p>
          <a:p>
            <a:r>
              <a:t>investimento no plano (acumulado)</a:t>
            </a:r>
          </a:p>
          <a:p>
            <a:r>
              <a:t>−26 a −35%</a:t>
            </a:r>
          </a:p>
          <a:p>
            <a:r>
              <a:t>carta persuasiva: 111 → 72–82 min</a:t>
            </a:r>
          </a:p>
          <a:p>
            <a:r>
              <a:t>RCT · Schwarcz et al. 2025</a:t>
            </a:r>
          </a:p>
          <a:p>
            <a:r>
              <a:t>−56%</a:t>
            </a:r>
          </a:p>
          <a:p>
            <a:r>
              <a:t>sistema do zero: 161 → 71 min</a:t>
            </a:r>
          </a:p>
          <a:p>
            <a:r>
              <a:t>RCT · Peng et al. 2023 (GitHub)</a:t>
            </a:r>
          </a:p>
          <a:p>
            <a:r>
              <a:t>−74%</a:t>
            </a:r>
          </a:p>
          <a:p>
            <a:r>
              <a:t>resumo de reunião: 43 → 11 min</a:t>
            </a:r>
          </a:p>
          <a:p>
            <a:r>
              <a:t>Microsoft Research 2023</a:t>
            </a:r>
          </a:p>
          <a:p>
            <a:r>
              <a:t>até −90%</a:t>
            </a:r>
          </a:p>
          <a:p>
            <a:r>
              <a:t>propostas com templates e base aprovada</a:t>
            </a:r>
          </a:p>
          <a:p>
            <a:r>
              <a:t>casos de empresa · confiança baixa</a:t>
            </a:r>
          </a:p>
          <a:p>
            <a:r>
              <a:t>3×</a:t>
            </a:r>
          </a:p>
          <a:p>
            <a:r>
              <a:t>quem usa IA acha que economizou 36 min; o medido foi 12 min</a:t>
            </a:r>
          </a:p>
          <a:p>
            <a:r>
              <a:t>Microsoft 2023 · meça antes de prometer</a:t>
            </a:r>
          </a:p>
          <a:p>
            <a:r>
              <a:t>Fontes: Schwarcz 2025 · Choi 2024 · Peng 2023 · Paradis/Google 2024 · Microsoft 2023/2025 · Anthropic 2025/2026 · casos de empresa · horas sem IA = premissa DTS (inclui revisão humana)</a:t>
            </a:r>
          </a:p>
          <a:p>
            <a:r>
              <a:t>3/6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 este slide: Como ler: horas por entregável em três cenários. Sem IA, do zero; com IA, do zero; com IA e uma base reaproveitada (Skill, Método, proposta anterior). As horas sem IA são uma premissa de consultoria típica, a calibrar com o timesheet de DTS. Os percentuais vêm de 37 casos verificados na fonte. </a:t>
            </a:r>
          </a:p>
          <a:p/>
          <a:p>
            <a:r>
              <a:t>Mais fortes: Schwarcz et al. 2025 (RCT, carta persuasiva 111→72–82 min); Choi et al. 2024 (RCT, contrato 70→48 min); Peng et al. 2023 (RCT, sistema do zero 161→71 min); Microsoft 2023 (resumo de reunião 43→11 min); Google 2024 (RCT, código corporativo −21%). Os ganhos acima de −56% vêm de casos de empresa ou de estimativa de modelo, por isso cada linha tem nível de confiança. </a:t>
            </a:r>
          </a:p>
          <a:p/>
          <a:p>
            <a:r>
              <a:t>Planos: Pro US$ 20, Max 5x US$ 100, Max 20x US$ 200. O Pro sustenta bem textos e decks, mas tem pouco fôlego para construir dashboards e sistemas no Claude Code (estimativa DTS: 85% e 40% de cobertura). </a:t>
            </a:r>
          </a:p>
          <a:p/>
          <a:p>
            <a:r>
              <a:t>Aproveitamento: estudos de campo mostram que só parte da hora economizada vira valor (mais entregas, menos hora extra). O padrão é 50% e dá para editar.</a:t>
            </a:r>
          </a:p>
          <a:p/>
          <a:p>
            <a:r>
              <a:t>— Conteúdo —</a:t>
            </a:r>
          </a:p>
          <a:p>
            <a:r>
              <a:t>ALVAREZ &amp; MARSAL</a:t>
            </a:r>
          </a:p>
          <a:p>
            <a:r>
              <a:t>DTS · NIVELAMENTO IA</a:t>
            </a:r>
          </a:p>
          <a:p>
            <a:r>
              <a:t>HIPER PERFORMANCE</a:t>
            </a:r>
          </a:p>
          <a:p>
            <a:r>
              <a:t>Parte 2 · Quanto a IA reduz do operacional</a:t>
            </a:r>
          </a:p>
          <a:p>
            <a:r>
              <a:t>Diagnóstico IA · DTS</a:t>
            </a:r>
          </a:p>
          <a:p>
            <a:r>
              <a:t>3/6</a:t>
            </a:r>
          </a:p>
          <a:p>
            <a:r>
              <a:t>O GANHO REAL VEM DA BASE REAPROVEITADA · NÃO SÓ DO PROMPT</a:t>
            </a:r>
          </a:p>
          <a:p>
            <a:r>
              <a:t>37 casos verificados · clique em um plano e o gráfico muda</a:t>
            </a:r>
          </a:p>
          <a:p>
            <a:r>
              <a:t>PLANO 1</a:t>
            </a:r>
          </a:p>
          <a:p>
            <a:r>
              <a:t>US$ 20</a:t>
            </a:r>
          </a:p>
          <a:p>
            <a:r>
              <a:t>por mês</a:t>
            </a:r>
          </a:p>
          <a:p>
            <a:r>
              <a:t>Claude Pro</a:t>
            </a:r>
          </a:p>
          <a:p>
            <a:r>
              <a:t>Textos e decks · pouco fôlego para construir</a:t>
            </a:r>
          </a:p>
          <a:p>
            <a:r>
              <a:t>PLANO 2</a:t>
            </a:r>
          </a:p>
          <a:p>
            <a:r>
              <a:t>US$ 100</a:t>
            </a:r>
          </a:p>
          <a:p>
            <a:r>
              <a:t>por mês</a:t>
            </a:r>
          </a:p>
          <a:p>
            <a:r>
              <a:t>Claude Max 5x</a:t>
            </a:r>
          </a:p>
          <a:p>
            <a:r>
              <a:t>5× o uso do Pro · decks, dashboards, protótipos</a:t>
            </a:r>
          </a:p>
          <a:p>
            <a:r>
              <a:t>PLANO 3</a:t>
            </a:r>
          </a:p>
          <a:p>
            <a:r>
              <a:t>US$ 200</a:t>
            </a:r>
          </a:p>
          <a:p>
            <a:r>
              <a:t>por mês</a:t>
            </a:r>
          </a:p>
          <a:p>
            <a:r>
              <a:t>Claude Max 20x</a:t>
            </a:r>
          </a:p>
          <a:p>
            <a:r>
              <a:t>20× o uso do Pro · Claude Code pesado, sistemas</a:t>
            </a:r>
          </a:p>
          <a:p>
            <a:r>
              <a:t>HORAS POR ENTREGÁVEL</a:t>
            </a:r>
          </a:p>
          <a:p>
            <a:r>
              <a:t>Sem IA</a:t>
            </a:r>
          </a:p>
          <a:p>
            <a:r>
              <a:t>IA do zero</a:t>
            </a:r>
          </a:p>
          <a:p>
            <a:r>
              <a:t>IA + Skill / base</a:t>
            </a:r>
          </a:p>
          <a:p>
            <a:r>
              <a:t>Proposta comercial</a:t>
            </a:r>
          </a:p>
          <a:p>
            <a:r>
              <a:t>10–15 págs · escopo, cronograma e preço</a:t>
            </a:r>
          </a:p>
          <a:p>
            <a:r>
              <a:t>●●○ confiança</a:t>
            </a:r>
          </a:p>
          <a:p>
            <a:r>
              <a:t>16h</a:t>
            </a:r>
          </a:p>
          <a:p>
            <a:r>
              <a:t>9h</a:t>
            </a:r>
          </a:p>
          <a:p>
            <a:r>
              <a:t>3h</a:t>
            </a:r>
          </a:p>
          <a:p>
            <a:r>
              <a:t>−81%</a:t>
            </a:r>
          </a:p>
          <a:p>
            <a:r>
              <a:t>medido −26% a −35% (RCT) · com base até −90%</a:t>
            </a:r>
          </a:p>
          <a:p>
            <a:r>
              <a:t>PPT com indicadores</a:t>
            </a:r>
          </a:p>
          <a:p>
            <a:r>
              <a:t>~12 slides · 6–8 gráficos</a:t>
            </a:r>
          </a:p>
          <a:p>
            <a:r>
              <a:t>●○○ confiança</a:t>
            </a:r>
          </a:p>
          <a:p>
            <a:r>
              <a:t>10h</a:t>
            </a:r>
          </a:p>
          <a:p>
            <a:r>
              <a:t>5h</a:t>
            </a:r>
          </a:p>
          <a:p>
            <a:r>
              <a:t>1,5h</a:t>
            </a:r>
          </a:p>
          <a:p>
            <a:r>
              <a:t>−85%</a:t>
            </a:r>
          </a:p>
          <a:p>
            <a:r>
              <a:t>rascunho −41% (Microsoft) · derivado</a:t>
            </a:r>
          </a:p>
          <a:p>
            <a:r>
              <a:t>Dashboard de indicadores</a:t>
            </a:r>
          </a:p>
          <a:p>
            <a:r>
              <a:t>8–10 KPIs · 2–3 fontes de dados</a:t>
            </a:r>
          </a:p>
          <a:p>
            <a:r>
              <a:t>●○○ confiança</a:t>
            </a:r>
          </a:p>
          <a:p>
            <a:r>
              <a:t>24h</a:t>
            </a:r>
          </a:p>
          <a:p>
            <a:r>
              <a:t>14,4h</a:t>
            </a:r>
          </a:p>
          <a:p>
            <a:r>
              <a:t>8h</a:t>
            </a:r>
          </a:p>
          <a:p>
            <a:r>
              <a:t>−67%</a:t>
            </a:r>
          </a:p>
          <a:p>
            <a:r>
              <a:t>código −16% a −56% (RCTs) · derivado</a:t>
            </a:r>
          </a:p>
          <a:p>
            <a:r>
              <a:t>Sistema simples</a:t>
            </a:r>
          </a:p>
          <a:p>
            <a:r>
              <a:t>app interno · 3–5 telas (protótipo)</a:t>
            </a:r>
          </a:p>
          <a:p>
            <a:r>
              <a:t>●●○ confiança</a:t>
            </a:r>
          </a:p>
          <a:p>
            <a:r>
              <a:t>40h</a:t>
            </a:r>
          </a:p>
          <a:p>
            <a:r>
              <a:t>22,4h</a:t>
            </a:r>
          </a:p>
          <a:p>
            <a:r>
              <a:t>12,8h</a:t>
            </a:r>
          </a:p>
          <a:p>
            <a:r>
              <a:t>−68%</a:t>
            </a:r>
          </a:p>
          <a:p>
            <a:r>
              <a:t>do zero 161 → 71 min (RCT) · produção: só −20% a −40%</a:t>
            </a:r>
          </a:p>
          <a:p>
            <a:r>
              <a:t>Análise de redução de custos</a:t>
            </a:r>
          </a:p>
          <a:p>
            <a:r>
              <a:t>spend de 12 meses · alavancas</a:t>
            </a:r>
          </a:p>
          <a:p>
            <a:r>
              <a:t>●○○ confiança</a:t>
            </a:r>
          </a:p>
          <a:p>
            <a:r>
              <a:t>32h</a:t>
            </a:r>
          </a:p>
          <a:p>
            <a:r>
              <a:t>20h</a:t>
            </a:r>
          </a:p>
          <a:p>
            <a:r>
              <a:t>9h</a:t>
            </a:r>
          </a:p>
          <a:p>
            <a:r>
              <a:t>−72%</a:t>
            </a:r>
          </a:p>
          <a:p>
            <a:r>
              <a:t>sem RCT · validar sempre os números</a:t>
            </a:r>
          </a:p>
          <a:p>
            <a:r>
              <a:t>Status report semanal</a:t>
            </a:r>
          </a:p>
          <a:p>
            <a:r>
              <a:t>gestão de projetos · por semana</a:t>
            </a:r>
          </a:p>
          <a:p>
            <a:r>
              <a:t>●●○ confiança</a:t>
            </a:r>
          </a:p>
          <a:p>
            <a:r>
              <a:t>3h</a:t>
            </a:r>
          </a:p>
          <a:p>
            <a:r>
              <a:t>1,5h</a:t>
            </a:r>
          </a:p>
          <a:p>
            <a:r>
              <a:t>30 min</a:t>
            </a:r>
          </a:p>
          <a:p>
            <a:r>
              <a:t>−83%</a:t>
            </a:r>
          </a:p>
          <a:p>
            <a:r>
              <a:t>resumo de reunião −74% (Microsoft)</a:t>
            </a:r>
          </a:p>
          <a:p>
            <a:r>
              <a:t>INVESTIMENTO × RETORNO · 12 MESES</a:t>
            </a:r>
          </a:p>
          <a:p>
            <a:r>
              <a:t>R$/h  · câmbio  · aproveit. %</a:t>
            </a:r>
          </a:p>
          <a:p>
            <a:r>
              <a:t>98h → 24h</a:t>
            </a:r>
          </a:p>
          <a:p>
            <a:r>
              <a:t>mês típico* com IA + Skill</a:t>
            </a:r>
          </a:p>
          <a:p>
            <a:r>
              <a:t>98h → 55h</a:t>
            </a:r>
          </a:p>
          <a:p>
            <a:r>
              <a:t>com IA, do zero</a:t>
            </a:r>
          </a:p>
          <a:p>
            <a:r>
              <a:t>R$ 550</a:t>
            </a:r>
          </a:p>
          <a:p>
            <a:r>
              <a:t>investimento por mês</a:t>
            </a:r>
          </a:p>
          <a:p>
            <a:r>
              <a:t>R$ 56.091</a:t>
            </a:r>
          </a:p>
          <a:p>
            <a:r>
              <a:t>retorno líquido em 1 ano</a:t>
            </a:r>
          </a:p>
          <a:p>
            <a:r>
              <a:t>*Mês típico: 1 proposta, 2 PPTs, 1 dashboard, ¼ de sistema, ½ análise de custos e 4 status reports</a:t>
            </a:r>
          </a:p>
          <a:p>
            <a:r>
              <a:t>0</a:t>
            </a:r>
          </a:p>
          <a:p>
            <a:r>
              <a:t>17k</a:t>
            </a:r>
          </a:p>
          <a:p>
            <a:r>
              <a:t>34k</a:t>
            </a:r>
          </a:p>
          <a:p>
            <a:r>
              <a:t>52k</a:t>
            </a:r>
          </a:p>
          <a:p>
            <a:r>
              <a:t>69k</a:t>
            </a:r>
          </a:p>
          <a:p>
            <a:r>
              <a:t>m2</a:t>
            </a:r>
          </a:p>
          <a:p>
            <a:r>
              <a:t>m4</a:t>
            </a:r>
          </a:p>
          <a:p>
            <a:r>
              <a:t>m6</a:t>
            </a:r>
          </a:p>
          <a:p>
            <a:r>
              <a:t>m8</a:t>
            </a:r>
          </a:p>
          <a:p>
            <a:r>
              <a:t>m10</a:t>
            </a:r>
          </a:p>
          <a:p>
            <a:r>
              <a:t>m12</a:t>
            </a:r>
          </a:p>
          <a:p>
            <a:r>
              <a:t>R$ 29.256</a:t>
            </a:r>
          </a:p>
          <a:p>
            <a:r>
              <a:t>R$ 62.691</a:t>
            </a:r>
          </a:p>
          <a:p>
            <a:r>
              <a:t>investimento R$ 6.600</a:t>
            </a:r>
          </a:p>
          <a:p>
            <a:r>
              <a:t>se paga no mês 1</a:t>
            </a:r>
          </a:p>
          <a:p>
            <a:r>
              <a:t>valor das horas liberadas (acumulado)</a:t>
            </a:r>
          </a:p>
          <a:p>
            <a:r>
              <a:t>investimento no plano (acumulado)</a:t>
            </a:r>
          </a:p>
          <a:p>
            <a:r>
              <a:t>−26 a −35%</a:t>
            </a:r>
          </a:p>
          <a:p>
            <a:r>
              <a:t>carta persuasiva: 111 → 72–82 min</a:t>
            </a:r>
          </a:p>
          <a:p>
            <a:r>
              <a:t>RCT · Schwarcz et al. 2025</a:t>
            </a:r>
          </a:p>
          <a:p>
            <a:r>
              <a:t>−56%</a:t>
            </a:r>
          </a:p>
          <a:p>
            <a:r>
              <a:t>sistema do zero: 161 → 71 min</a:t>
            </a:r>
          </a:p>
          <a:p>
            <a:r>
              <a:t>RCT · Peng et al. 2023 (GitHub)</a:t>
            </a:r>
          </a:p>
          <a:p>
            <a:r>
              <a:t>−74%</a:t>
            </a:r>
          </a:p>
          <a:p>
            <a:r>
              <a:t>resumo de reunião: 43 → 11 min</a:t>
            </a:r>
          </a:p>
          <a:p>
            <a:r>
              <a:t>Microsoft Research 2023</a:t>
            </a:r>
          </a:p>
          <a:p>
            <a:r>
              <a:t>até −90%</a:t>
            </a:r>
          </a:p>
          <a:p>
            <a:r>
              <a:t>propostas com templates e base aprovada</a:t>
            </a:r>
          </a:p>
          <a:p>
            <a:r>
              <a:t>casos de empresa · confiança baixa</a:t>
            </a:r>
          </a:p>
          <a:p>
            <a:r>
              <a:t>3×</a:t>
            </a:r>
          </a:p>
          <a:p>
            <a:r>
              <a:t>quem usa IA acha que economizou 36 min; o medido foi 12 min</a:t>
            </a:r>
          </a:p>
          <a:p>
            <a:r>
              <a:t>Microsoft 2023 · meça antes de prometer</a:t>
            </a:r>
          </a:p>
          <a:p>
            <a:r>
              <a:t>Fontes: Schwarcz 2025 · Choi 2024 · Peng 2023 · Paradis/Google 2024 · Microsoft 2023/2025 · Anthropic 2025/2026 · casos de empresa · horas sem IA = premissa DTS (inclui revisão humana)</a:t>
            </a:r>
          </a:p>
          <a:p>
            <a:r>
              <a:t>3/6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 este slide: Como ler: horas por entregável em três cenários. Sem IA, do zero; com IA, do zero; com IA e uma base reaproveitada (Skill, Método, proposta anterior). As horas sem IA são uma premissa de consultoria típica, a calibrar com o timesheet de DTS. Os percentuais vêm de 37 casos verificados na fonte. </a:t>
            </a:r>
          </a:p>
          <a:p/>
          <a:p>
            <a:r>
              <a:t>Mais fortes: Schwarcz et al. 2025 (RCT, carta persuasiva 111→72–82 min); Choi et al. 2024 (RCT, contrato 70→48 min); Peng et al. 2023 (RCT, sistema do zero 161→71 min); Microsoft 2023 (resumo de reunião 43→11 min); Google 2024 (RCT, código corporativo −21%). Os ganhos acima de −56% vêm de casos de empresa ou de estimativa de modelo, por isso cada linha tem nível de confiança. </a:t>
            </a:r>
          </a:p>
          <a:p/>
          <a:p>
            <a:r>
              <a:t>Planos: Pro US$ 20, Max 5x US$ 100, Max 20x US$ 200. O Pro sustenta bem textos e decks, mas tem pouco fôlego para construir dashboards e sistemas no Claude Code (estimativa DTS: 85% e 40% de cobertura). </a:t>
            </a:r>
          </a:p>
          <a:p/>
          <a:p>
            <a:r>
              <a:t>Aproveitamento: estudos de campo mostram que só parte da hora economizada vira valor (mais entregas, menos hora extra). O padrão é 50% e dá para editar.</a:t>
            </a:r>
          </a:p>
          <a:p/>
          <a:p>
            <a:r>
              <a:t>— Conteúdo —</a:t>
            </a:r>
          </a:p>
          <a:p>
            <a:r>
              <a:t>ALVAREZ &amp; MARSAL</a:t>
            </a:r>
          </a:p>
          <a:p>
            <a:r>
              <a:t>DTS · NIVELAMENTO IA</a:t>
            </a:r>
          </a:p>
          <a:p>
            <a:r>
              <a:t>HIPER PERFORMANCE</a:t>
            </a:r>
          </a:p>
          <a:p>
            <a:r>
              <a:t>Parte 2 · Quanto a IA reduz do operacional</a:t>
            </a:r>
          </a:p>
          <a:p>
            <a:r>
              <a:t>Diagnóstico IA · DTS</a:t>
            </a:r>
          </a:p>
          <a:p>
            <a:r>
              <a:t>3/6</a:t>
            </a:r>
          </a:p>
          <a:p>
            <a:r>
              <a:t>O GANHO REAL VEM DA BASE REAPROVEITADA · NÃO SÓ DO PROMPT</a:t>
            </a:r>
          </a:p>
          <a:p>
            <a:r>
              <a:t>37 casos verificados · clique em um plano e o gráfico muda</a:t>
            </a:r>
          </a:p>
          <a:p>
            <a:r>
              <a:t>PLANO 1</a:t>
            </a:r>
          </a:p>
          <a:p>
            <a:r>
              <a:t>US$ 20</a:t>
            </a:r>
          </a:p>
          <a:p>
            <a:r>
              <a:t>por mês</a:t>
            </a:r>
          </a:p>
          <a:p>
            <a:r>
              <a:t>Claude Pro</a:t>
            </a:r>
          </a:p>
          <a:p>
            <a:r>
              <a:t>Textos e decks · pouco fôlego para construir</a:t>
            </a:r>
          </a:p>
          <a:p>
            <a:r>
              <a:t>PLANO 2</a:t>
            </a:r>
          </a:p>
          <a:p>
            <a:r>
              <a:t>US$ 100</a:t>
            </a:r>
          </a:p>
          <a:p>
            <a:r>
              <a:t>por mês</a:t>
            </a:r>
          </a:p>
          <a:p>
            <a:r>
              <a:t>Claude Max 5x</a:t>
            </a:r>
          </a:p>
          <a:p>
            <a:r>
              <a:t>5× o uso do Pro · decks, dashboards, protótipos</a:t>
            </a:r>
          </a:p>
          <a:p>
            <a:r>
              <a:t>PLANO 3</a:t>
            </a:r>
          </a:p>
          <a:p>
            <a:r>
              <a:t>US$ 200</a:t>
            </a:r>
          </a:p>
          <a:p>
            <a:r>
              <a:t>por mês</a:t>
            </a:r>
          </a:p>
          <a:p>
            <a:r>
              <a:t>Claude Max 20x</a:t>
            </a:r>
          </a:p>
          <a:p>
            <a:r>
              <a:t>20× o uso do Pro · Claude Code pesado, sistemas</a:t>
            </a:r>
          </a:p>
          <a:p>
            <a:r>
              <a:t>HORAS POR ENTREGÁVEL</a:t>
            </a:r>
          </a:p>
          <a:p>
            <a:r>
              <a:t>Sem IA</a:t>
            </a:r>
          </a:p>
          <a:p>
            <a:r>
              <a:t>IA do zero</a:t>
            </a:r>
          </a:p>
          <a:p>
            <a:r>
              <a:t>IA + Skill / base</a:t>
            </a:r>
          </a:p>
          <a:p>
            <a:r>
              <a:t>Proposta comercial</a:t>
            </a:r>
          </a:p>
          <a:p>
            <a:r>
              <a:t>10–15 págs · escopo, cronograma e preço</a:t>
            </a:r>
          </a:p>
          <a:p>
            <a:r>
              <a:t>●●○ confiança</a:t>
            </a:r>
          </a:p>
          <a:p>
            <a:r>
              <a:t>16h</a:t>
            </a:r>
          </a:p>
          <a:p>
            <a:r>
              <a:t>9h</a:t>
            </a:r>
          </a:p>
          <a:p>
            <a:r>
              <a:t>3h</a:t>
            </a:r>
          </a:p>
          <a:p>
            <a:r>
              <a:t>−81%</a:t>
            </a:r>
          </a:p>
          <a:p>
            <a:r>
              <a:t>medido −26% a −35% (RCT) · com base até −90%</a:t>
            </a:r>
          </a:p>
          <a:p>
            <a:r>
              <a:t>PPT com indicadores</a:t>
            </a:r>
          </a:p>
          <a:p>
            <a:r>
              <a:t>~12 slides · 6–8 gráficos</a:t>
            </a:r>
          </a:p>
          <a:p>
            <a:r>
              <a:t>●○○ confiança</a:t>
            </a:r>
          </a:p>
          <a:p>
            <a:r>
              <a:t>10h</a:t>
            </a:r>
          </a:p>
          <a:p>
            <a:r>
              <a:t>5h</a:t>
            </a:r>
          </a:p>
          <a:p>
            <a:r>
              <a:t>1,5h</a:t>
            </a:r>
          </a:p>
          <a:p>
            <a:r>
              <a:t>−85%</a:t>
            </a:r>
          </a:p>
          <a:p>
            <a:r>
              <a:t>rascunho −41% (Microsoft) · derivado</a:t>
            </a:r>
          </a:p>
          <a:p>
            <a:r>
              <a:t>Dashboard de indicadores</a:t>
            </a:r>
          </a:p>
          <a:p>
            <a:r>
              <a:t>8–10 KPIs · 2–3 fontes de dados</a:t>
            </a:r>
          </a:p>
          <a:p>
            <a:r>
              <a:t>●○○ confiança</a:t>
            </a:r>
          </a:p>
          <a:p>
            <a:r>
              <a:t>24h</a:t>
            </a:r>
          </a:p>
          <a:p>
            <a:r>
              <a:t>12h</a:t>
            </a:r>
          </a:p>
          <a:p>
            <a:r>
              <a:t>4h</a:t>
            </a:r>
          </a:p>
          <a:p>
            <a:r>
              <a:t>−83%</a:t>
            </a:r>
          </a:p>
          <a:p>
            <a:r>
              <a:t>código −16% a −56% (RCTs) · derivado</a:t>
            </a:r>
          </a:p>
          <a:p>
            <a:r>
              <a:t>Sistema simples</a:t>
            </a:r>
          </a:p>
          <a:p>
            <a:r>
              <a:t>app interno · 3–5 telas (protótipo)</a:t>
            </a:r>
          </a:p>
          <a:p>
            <a:r>
              <a:t>●●○ confiança</a:t>
            </a:r>
          </a:p>
          <a:p>
            <a:r>
              <a:t>40h</a:t>
            </a:r>
          </a:p>
          <a:p>
            <a:r>
              <a:t>18h</a:t>
            </a:r>
          </a:p>
          <a:p>
            <a:r>
              <a:t>6h</a:t>
            </a:r>
          </a:p>
          <a:p>
            <a:r>
              <a:t>−85%</a:t>
            </a:r>
          </a:p>
          <a:p>
            <a:r>
              <a:t>do zero 161 → 71 min (RCT) · produção: só −20% a −40%</a:t>
            </a:r>
          </a:p>
          <a:p>
            <a:r>
              <a:t>Análise de redução de custos</a:t>
            </a:r>
          </a:p>
          <a:p>
            <a:r>
              <a:t>spend de 12 meses · alavancas</a:t>
            </a:r>
          </a:p>
          <a:p>
            <a:r>
              <a:t>●○○ confiança</a:t>
            </a:r>
          </a:p>
          <a:p>
            <a:r>
              <a:t>32h</a:t>
            </a:r>
          </a:p>
          <a:p>
            <a:r>
              <a:t>20h</a:t>
            </a:r>
          </a:p>
          <a:p>
            <a:r>
              <a:t>9h</a:t>
            </a:r>
          </a:p>
          <a:p>
            <a:r>
              <a:t>−72%</a:t>
            </a:r>
          </a:p>
          <a:p>
            <a:r>
              <a:t>sem RCT · validar sempre os números</a:t>
            </a:r>
          </a:p>
          <a:p>
            <a:r>
              <a:t>Status report semanal</a:t>
            </a:r>
          </a:p>
          <a:p>
            <a:r>
              <a:t>gestão de projetos · por semana</a:t>
            </a:r>
          </a:p>
          <a:p>
            <a:r>
              <a:t>●●○ confiança</a:t>
            </a:r>
          </a:p>
          <a:p>
            <a:r>
              <a:t>3h</a:t>
            </a:r>
          </a:p>
          <a:p>
            <a:r>
              <a:t>1,5h</a:t>
            </a:r>
          </a:p>
          <a:p>
            <a:r>
              <a:t>30 min</a:t>
            </a:r>
          </a:p>
          <a:p>
            <a:r>
              <a:t>−83%</a:t>
            </a:r>
          </a:p>
          <a:p>
            <a:r>
              <a:t>resumo de reunião −74% (Microsoft)</a:t>
            </a:r>
          </a:p>
          <a:p>
            <a:r>
              <a:t>INVESTIMENTO × RETORNO · 12 MESES</a:t>
            </a:r>
          </a:p>
          <a:p>
            <a:r>
              <a:t>R$/h  · câmbio  · aproveit. %</a:t>
            </a:r>
          </a:p>
          <a:p>
            <a:r>
              <a:t>98h → 18h</a:t>
            </a:r>
          </a:p>
          <a:p>
            <a:r>
              <a:t>mês típico* com IA + Skill</a:t>
            </a:r>
          </a:p>
          <a:p>
            <a:r>
              <a:t>98h → 52h</a:t>
            </a:r>
          </a:p>
          <a:p>
            <a:r>
              <a:t>com IA, do zero</a:t>
            </a:r>
          </a:p>
          <a:p>
            <a:r>
              <a:t>R$ 1.100</a:t>
            </a:r>
          </a:p>
          <a:p>
            <a:r>
              <a:t>investimento por mês</a:t>
            </a:r>
          </a:p>
          <a:p>
            <a:r>
              <a:t>R$ 54.300</a:t>
            </a:r>
          </a:p>
          <a:p>
            <a:r>
              <a:t>retorno líquido em 1 ano</a:t>
            </a:r>
          </a:p>
          <a:p>
            <a:r>
              <a:t>*Mês típico: 1 proposta, 2 PPTs, 1 dashboard, ¼ de sistema, ½ análise de custos e 4 status reports</a:t>
            </a:r>
          </a:p>
          <a:p>
            <a:r>
              <a:t>0</a:t>
            </a:r>
          </a:p>
          <a:p>
            <a:r>
              <a:t>19k</a:t>
            </a:r>
          </a:p>
          <a:p>
            <a:r>
              <a:t>37k</a:t>
            </a:r>
          </a:p>
          <a:p>
            <a:r>
              <a:t>56k</a:t>
            </a:r>
          </a:p>
          <a:p>
            <a:r>
              <a:t>74k</a:t>
            </a:r>
          </a:p>
          <a:p>
            <a:r>
              <a:t>m2</a:t>
            </a:r>
          </a:p>
          <a:p>
            <a:r>
              <a:t>m4</a:t>
            </a:r>
          </a:p>
          <a:p>
            <a:r>
              <a:t>m6</a:t>
            </a:r>
          </a:p>
          <a:p>
            <a:r>
              <a:t>m8</a:t>
            </a:r>
          </a:p>
          <a:p>
            <a:r>
              <a:t>m10</a:t>
            </a:r>
          </a:p>
          <a:p>
            <a:r>
              <a:t>m12</a:t>
            </a:r>
          </a:p>
          <a:p>
            <a:r>
              <a:t>R$ 31.500</a:t>
            </a:r>
          </a:p>
          <a:p>
            <a:r>
              <a:t>R$ 67.500</a:t>
            </a:r>
          </a:p>
          <a:p>
            <a:r>
              <a:t>investimento R$ 13.200</a:t>
            </a:r>
          </a:p>
          <a:p>
            <a:r>
              <a:t>se paga no mês 1</a:t>
            </a:r>
          </a:p>
          <a:p>
            <a:r>
              <a:t>valor das horas liberadas (acumulado)</a:t>
            </a:r>
          </a:p>
          <a:p>
            <a:r>
              <a:t>investimento no plano (acumulado)</a:t>
            </a:r>
          </a:p>
          <a:p>
            <a:r>
              <a:t>−26 a −35%</a:t>
            </a:r>
          </a:p>
          <a:p>
            <a:r>
              <a:t>carta persuasiva: 111 → 72–82 min</a:t>
            </a:r>
          </a:p>
          <a:p>
            <a:r>
              <a:t>RCT · Schwarcz et al. 2025</a:t>
            </a:r>
          </a:p>
          <a:p>
            <a:r>
              <a:t>−56%</a:t>
            </a:r>
          </a:p>
          <a:p>
            <a:r>
              <a:t>sistema do zero: 161 → 71 min</a:t>
            </a:r>
          </a:p>
          <a:p>
            <a:r>
              <a:t>RCT · Peng et al. 2023 (GitHub)</a:t>
            </a:r>
          </a:p>
          <a:p>
            <a:r>
              <a:t>−74%</a:t>
            </a:r>
          </a:p>
          <a:p>
            <a:r>
              <a:t>resumo de reunião: 43 → 11 min</a:t>
            </a:r>
          </a:p>
          <a:p>
            <a:r>
              <a:t>Microsoft Research 2023</a:t>
            </a:r>
          </a:p>
          <a:p>
            <a:r>
              <a:t>até −90%</a:t>
            </a:r>
          </a:p>
          <a:p>
            <a:r>
              <a:t>propostas com templates e base aprovada</a:t>
            </a:r>
          </a:p>
          <a:p>
            <a:r>
              <a:t>casos de empresa · confiança baixa</a:t>
            </a:r>
          </a:p>
          <a:p>
            <a:r>
              <a:t>3×</a:t>
            </a:r>
          </a:p>
          <a:p>
            <a:r>
              <a:t>quem usa IA acha que economizou 36 min; o medido foi 12 min</a:t>
            </a:r>
          </a:p>
          <a:p>
            <a:r>
              <a:t>Microsoft 2023 · meça antes de prometer</a:t>
            </a:r>
          </a:p>
          <a:p>
            <a:r>
              <a:t>Fontes: Schwarcz 2025 · Choi 2024 · Peng 2023 · Paradis/Google 2024 · Microsoft 2023/2025 · Anthropic 2025/2026 · casos de empresa · horas sem IA = premissa DTS (inclui revisão humana)</a:t>
            </a:r>
          </a:p>
          <a:p>
            <a:r>
              <a:t>3/6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 este slide: Consumo de tokens: é uma régua relativa para escolher bem, não uma medição. Modelos maiores e tarefas longas (arquivos grandes, Claude Code, agentes, pesquisa profunda) consomem muito mais do limite do seu plano. </a:t>
            </a:r>
          </a:p>
          <a:p/>
          <a:p>
            <a:r>
              <a:t>Linha de modelos: out/2026. No ChatGPT os nomes mudam com frequência, então escolha pelo modo no seletor. </a:t>
            </a:r>
          </a:p>
          <a:p/>
          <a:p>
            <a:r>
              <a:t>Dados de cliente só nas ferramentas e contas homologadas pela A&amp;M.</a:t>
            </a:r>
          </a:p>
          <a:p/>
          <a:p>
            <a:r>
              <a:t>— Conteúdo —</a:t>
            </a:r>
          </a:p>
          <a:p>
            <a:r>
              <a:t>ALVAREZ &amp; MARSAL</a:t>
            </a:r>
          </a:p>
          <a:p>
            <a:r>
              <a:t>DTS · NIVELAMENTO IA</a:t>
            </a:r>
          </a:p>
          <a:p>
            <a:r>
              <a:t>FERRAMENTAS E MODELOS</a:t>
            </a:r>
          </a:p>
          <a:p>
            <a:r>
              <a:t>Parte 2 · Qual usar, quando e quanto consome</a:t>
            </a:r>
          </a:p>
          <a:p>
            <a:r>
              <a:t>Diagnóstico IA · DTS</a:t>
            </a:r>
          </a:p>
          <a:p>
            <a:r>
              <a:t>4/6</a:t>
            </a:r>
          </a:p>
          <a:p>
            <a:r>
              <a:t>FERRAMENTA CERTA, MODELO CERTO · GASTANDO O TOKEN CERTO</a:t>
            </a:r>
          </a:p>
          <a:p>
            <a:r>
              <a:t>Régua de consumo: Pouco · Médio · Muito</a:t>
            </a:r>
          </a:p>
          <a:p>
            <a:r>
              <a:t>🌐</a:t>
            </a:r>
          </a:p>
          <a:p>
            <a:r>
              <a:t>Claude Web</a:t>
            </a:r>
          </a:p>
          <a:p>
            <a:r>
              <a:t>claude.ai · conversar e criar</a:t>
            </a:r>
          </a:p>
          <a:p>
            <a:r>
              <a:t>Rascunhos, análises e propostas</a:t>
            </a:r>
          </a:p>
          <a:p>
            <a:r>
              <a:t>Projects com contexto salvo</a:t>
            </a:r>
          </a:p>
          <a:p>
            <a:r>
              <a:t>Artifacts: páginas, decks, dashboards</a:t>
            </a:r>
          </a:p>
          <a:p>
            <a:r>
              <a:t>Research com fontes</a:t>
            </a:r>
          </a:p>
          <a:p>
            <a:r>
              <a:t>Sonnet 5.5</a:t>
            </a:r>
          </a:p>
          <a:p>
            <a:r>
              <a:t>MÉDIO</a:t>
            </a:r>
          </a:p>
          <a:p>
            <a:r>
              <a:t>🖥️</a:t>
            </a:r>
          </a:p>
          <a:p>
            <a:r>
              <a:t>Claude Desktop</a:t>
            </a:r>
          </a:p>
          <a:p>
            <a:r>
              <a:t>app · trabalhar com seu computador</a:t>
            </a:r>
          </a:p>
          <a:p>
            <a:r>
              <a:t>Arquivos e pastas locais</a:t>
            </a:r>
          </a:p>
          <a:p>
            <a:r>
              <a:t>Conectores e MCP (e-mail, drive)</a:t>
            </a:r>
          </a:p>
          <a:p>
            <a:r>
              <a:t>Cowork: tarefas longas delegadas</a:t>
            </a:r>
          </a:p>
          <a:p>
            <a:r>
              <a:t>Skills sem programar</a:t>
            </a:r>
          </a:p>
          <a:p>
            <a:r>
              <a:t>Sonnet / Opus 5.5</a:t>
            </a:r>
          </a:p>
          <a:p>
            <a:r>
              <a:t>MÉDIO</a:t>
            </a:r>
          </a:p>
          <a:p>
            <a:r>
              <a:t>⌨️</a:t>
            </a:r>
          </a:p>
          <a:p>
            <a:r>
              <a:t>Claude Code</a:t>
            </a:r>
          </a:p>
          <a:p>
            <a:r>
              <a:t>terminal · web · construir</a:t>
            </a:r>
          </a:p>
          <a:p>
            <a:r>
              <a:t>Sistemas, dashboards e jogos</a:t>
            </a:r>
          </a:p>
          <a:p>
            <a:r>
              <a:t>Automações e agentes</a:t>
            </a:r>
          </a:p>
          <a:p>
            <a:r>
              <a:t>Engenharia reversa de sistemas</a:t>
            </a:r>
          </a:p>
          <a:p>
            <a:r>
              <a:t>Criar e testar Skills</a:t>
            </a:r>
          </a:p>
          <a:p>
            <a:r>
              <a:t>Opus 5.5 · Sonnet 5.5</a:t>
            </a:r>
          </a:p>
          <a:p>
            <a:r>
              <a:t>MUITO</a:t>
            </a:r>
          </a:p>
          <a:p>
            <a:r>
              <a:t>💬</a:t>
            </a:r>
          </a:p>
          <a:p>
            <a:r>
              <a:t>ChatGPT</a:t>
            </a:r>
          </a:p>
          <a:p>
            <a:r>
              <a:t>segunda opinião e mídia</a:t>
            </a:r>
          </a:p>
          <a:p>
            <a:r>
              <a:t>Imagens e edição visual</a:t>
            </a:r>
          </a:p>
          <a:p>
            <a:r>
              <a:t>Deep Research longo</a:t>
            </a:r>
          </a:p>
          <a:p>
            <a:r>
              <a:t>Modo Agent e GPTs</a:t>
            </a:r>
          </a:p>
          <a:p>
            <a:r>
              <a:t>Codex para código</a:t>
            </a:r>
          </a:p>
          <a:p>
            <a:r>
              <a:t>Instant · Thinking · Pro</a:t>
            </a:r>
          </a:p>
          <a:p>
            <a:r>
              <a:t>MÉDIO</a:t>
            </a:r>
          </a:p>
          <a:p>
            <a:r>
              <a:t>MODELOS · PARA QUE E QUANDO USAR</a:t>
            </a:r>
          </a:p>
          <a:p>
            <a:r>
              <a:t>MODELO	PARA QUÊ	QUANDO USAR	CONSUMO</a:t>
            </a:r>
          </a:p>
          <a:p>
            <a:r>
              <a:t>Haiku 5.5</a:t>
            </a:r>
          </a:p>
          <a:p>
            <a:r>
              <a:t>Claude</a:t>
            </a:r>
          </a:p>
          <a:p>
            <a:r>
              <a:t>	Velocidade	Triagem, classificar e resumir em volume	</a:t>
            </a:r>
          </a:p>
          <a:p>
            <a:r>
              <a:t>POUCO</a:t>
            </a:r>
          </a:p>
          <a:p>
            <a:r>
              <a:t>Sonnet 5.5</a:t>
            </a:r>
          </a:p>
          <a:p>
            <a:r>
              <a:t>Claude</a:t>
            </a:r>
          </a:p>
          <a:p>
            <a:r>
              <a:t>	O dia a dia	Textos, decks, análises e código do dia a dia	</a:t>
            </a:r>
          </a:p>
          <a:p>
            <a:r>
              <a:t>MÉDIO</a:t>
            </a:r>
          </a:p>
          <a:p>
            <a:r>
              <a:t>Opus 5.5</a:t>
            </a:r>
          </a:p>
          <a:p>
            <a:r>
              <a:t>Claude</a:t>
            </a:r>
          </a:p>
          <a:p>
            <a:r>
              <a:t>	Pensar e construir	Estratégia, problema complexo, Claude Code pesado	</a:t>
            </a:r>
          </a:p>
          <a:p>
            <a:r>
              <a:t>MUITO</a:t>
            </a:r>
          </a:p>
          <a:p>
            <a:r>
              <a:t>Fable 5.1</a:t>
            </a:r>
          </a:p>
          <a:p>
            <a:r>
              <a:t>Claude</a:t>
            </a:r>
          </a:p>
          <a:p>
            <a:r>
              <a:t>	O mais potente	Só para o problema mais difícil (se o plano tiver)	</a:t>
            </a:r>
          </a:p>
          <a:p>
            <a:r>
              <a:t>MUITO</a:t>
            </a:r>
          </a:p>
          <a:p>
            <a:r>
              <a:t>Instant</a:t>
            </a:r>
          </a:p>
          <a:p>
            <a:r>
              <a:t>ChatGPT</a:t>
            </a:r>
          </a:p>
          <a:p>
            <a:r>
              <a:t>	Rápido	Perguntas, e-mails e textos curtos	</a:t>
            </a:r>
          </a:p>
          <a:p>
            <a:r>
              <a:t>POUCO</a:t>
            </a:r>
          </a:p>
          <a:p>
            <a:r>
              <a:t>Thinking</a:t>
            </a:r>
          </a:p>
          <a:p>
            <a:r>
              <a:t>ChatGPT</a:t>
            </a:r>
          </a:p>
          <a:p>
            <a:r>
              <a:t>	Raciocínio	Análise em etapas, planilhas e lógica	</a:t>
            </a:r>
          </a:p>
          <a:p>
            <a:r>
              <a:t>MÉDIO</a:t>
            </a:r>
          </a:p>
          <a:p>
            <a:r>
              <a:t>Pro · Deep Research · Agent</a:t>
            </a:r>
          </a:p>
          <a:p>
            <a:r>
              <a:t>ChatGPT</a:t>
            </a:r>
          </a:p>
          <a:p>
            <a:r>
              <a:t>	Pesado	Pesquisa longa e tarefas autônomas	</a:t>
            </a:r>
          </a:p>
          <a:p>
            <a:r>
              <a:t>MUITO</a:t>
            </a:r>
          </a:p>
          <a:p>
            <a:r>
              <a:t>A RÉGUA DE CONSUMO</a:t>
            </a:r>
          </a:p>
          <a:p>
            <a:r>
              <a:t>POUCO</a:t>
            </a:r>
          </a:p>
          <a:p>
            <a:r>
              <a:t>Perguntas rápidas, resumos curtos, revisão de texto, e-mail.</a:t>
            </a:r>
          </a:p>
          <a:p>
            <a:r>
              <a:t>MÉDIO</a:t>
            </a:r>
          </a:p>
          <a:p>
            <a:r>
              <a:t>Documentos e planilhas anexados, análises, decks e propostas.</a:t>
            </a:r>
          </a:p>
          <a:p>
            <a:r>
              <a:t>MUITO</a:t>
            </a:r>
          </a:p>
          <a:p>
            <a:r>
              <a:t>Claude Code, agentes, pesquisa profunda, contexto gigante, conversas muito longas.</a:t>
            </a:r>
          </a:p>
          <a:p>
            <a:r>
              <a:t>COMO USAR MELHOR</a:t>
            </a:r>
          </a:p>
          <a:p>
            <a:r>
              <a:t>Comece pequeno: Sonnet ou Instant. Suba para Opus ou Thinking só se precisar.</a:t>
            </a:r>
          </a:p>
          <a:p>
            <a:r>
              <a:t>Um assunto por conversa. Chat longo relê tudo e gasta mais.</a:t>
            </a:r>
          </a:p>
          <a:p>
            <a:r>
              <a:t>Use Projects: o contexto fica salvo e você não cola os mesmos arquivos de novo.</a:t>
            </a:r>
          </a:p>
          <a:p>
            <a:r>
              <a:t>Prompt com 5 peças: objetivo · contexto · público · formato · referência.</a:t>
            </a:r>
          </a:p>
          <a:p>
            <a:r>
              <a:t>Arquivo grande? Peça um resumo uma vez e trabalhe sobre o resumo.</a:t>
            </a:r>
          </a:p>
          <a:p>
            <a:r>
              <a:t>No Claude Code: Opus para planejar e Sonnet para executar a rotina.</a:t>
            </a:r>
          </a:p>
          <a:p>
            <a:r>
              <a:t>Fonte: linha de modelos Anthropic e OpenAI em out/2026 · régua de consumo relativa (confirme limites no seu plano)</a:t>
            </a:r>
          </a:p>
          <a:p>
            <a:r>
              <a:t>4/6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 este slide: Trilha livre: não é obrigatória e não tem regra. É uma biblioteca para estudar, consultar e explorar no seu ritmo. </a:t>
            </a:r>
          </a:p>
          <a:p/>
          <a:p>
            <a:r>
              <a:t>Os vídeos são gratuitos, em português, de canais reconhecidos (Akita, Full Cycle, Deborah Folloni, Rodrigo do Carmo, Mário Trentim, Hashtag). </a:t>
            </a:r>
          </a:p>
          <a:p/>
          <a:p>
            <a:r>
              <a:t>Aleatório: sorteia conteúdos de design, sistemas, jogos, dados e automação para ampliar o repertório.</a:t>
            </a:r>
          </a:p>
          <a:p/>
          <a:p>
            <a:r>
              <a:t>— Conteúdo —</a:t>
            </a:r>
          </a:p>
          <a:p>
            <a:r>
              <a:t>ALVAREZ &amp; MARSAL</a:t>
            </a:r>
          </a:p>
          <a:p>
            <a:r>
              <a:t>DTS · NIVELAMENTO IA</a:t>
            </a:r>
          </a:p>
          <a:p>
            <a:r>
              <a:t>TRILHA LIVRE</a:t>
            </a:r>
          </a:p>
          <a:p>
            <a:r>
              <a:t>Parte 3 · Estude, consulte e explore</a:t>
            </a:r>
          </a:p>
          <a:p>
            <a:r>
              <a:t>Diagnóstico IA · DTS</a:t>
            </a:r>
          </a:p>
          <a:p>
            <a:r>
              <a:t>5/6</a:t>
            </a:r>
          </a:p>
          <a:p>
            <a:r>
              <a:t>TRILHA LIVRE DE ESTUDOS · NO SEU RITMO</a:t>
            </a:r>
          </a:p>
          <a:p>
            <a:r>
              <a:t>Gratuito · em português · do básico à consultoria</a:t>
            </a:r>
          </a:p>
          <a:p>
            <a:r>
              <a:t>Por onde começar?</a:t>
            </a:r>
          </a:p>
          <a:p>
            <a:r>
              <a:t>Evolução → níveis 1 e 2</a:t>
            </a:r>
          </a:p>
          <a:p>
            <a:r>
              <a:t>Autonomia → níveis 2 e 3</a:t>
            </a:r>
          </a:p>
          <a:p>
            <a:r>
              <a:t>Multiplicação → níveis 3 e 4</a:t>
            </a:r>
          </a:p>
          <a:p>
            <a:r>
              <a:t>Clique em qualquer vídeo para abrir no YouTube</a:t>
            </a:r>
          </a:p>
          <a:p>
            <a:r>
              <a:t>1</a:t>
            </a:r>
          </a:p>
          <a:p>
            <a:r>
              <a:t>Nível 1 · Compreender</a:t>
            </a:r>
          </a:p>
          <a:p>
            <a:r>
              <a:t>Prompt e primeiros passos</a:t>
            </a:r>
          </a:p>
          <a:p>
            <a:r>
              <a:t>LUCAS MOREIRA</a:t>
            </a:r>
          </a:p>
          <a:p>
            <a:r>
              <a:t>Engenharia de Prompt: o guia completo</a:t>
            </a:r>
          </a:p>
          <a:p>
            <a:r>
              <a:t>Prompts consistentes, tokens e versionamento</a:t>
            </a:r>
          </a:p>
          <a:p>
            <a:r>
              <a:t>SANDECO</a:t>
            </a:r>
          </a:p>
          <a:p>
            <a:r>
              <a:t>Curso ChatGPT: Engenharia de Prompts</a:t>
            </a:r>
          </a:p>
          <a:p>
            <a:r>
              <a:t>Formação de prompts e aplicações práticas</a:t>
            </a:r>
          </a:p>
          <a:p>
            <a:r>
              <a:t>RODRIGO DO CARMO</a:t>
            </a:r>
          </a:p>
          <a:p>
            <a:r>
              <a:t>Claude Cowork: curso completo para iniciantes</a:t>
            </a:r>
          </a:p>
          <a:p>
            <a:r>
              <a:t>Skills, MCP e plugins sem programar</a:t>
            </a:r>
          </a:p>
          <a:p>
            <a:r>
              <a:t>PROF. MENDES</a:t>
            </a:r>
          </a:p>
          <a:p>
            <a:r>
              <a:t>Engenharia de Prompt na prática (aula 01)</a:t>
            </a:r>
          </a:p>
          <a:p>
            <a:r>
              <a:t>Exercícios guiados, do zero</a:t>
            </a:r>
          </a:p>
          <a:p>
            <a:r>
              <a:t>DEBORAH FOLLONI</a:t>
            </a:r>
          </a:p>
          <a:p>
            <a:r>
              <a:t>Claude Code explicado para pessoas normais</a:t>
            </a:r>
          </a:p>
          <a:p>
            <a:r>
              <a:t>Sem jargão técnico, para não-devs</a:t>
            </a:r>
          </a:p>
          <a:p>
            <a:r>
              <a:t>Use em: atas, e-mails, resumos executivos e primeiras versões de entregáveis.</a:t>
            </a:r>
          </a:p>
          <a:p>
            <a:r>
              <a:t>2</a:t>
            </a:r>
          </a:p>
          <a:p>
            <a:r>
              <a:t>Nível 2 · Construir</a:t>
            </a:r>
          </a:p>
          <a:p>
            <a:r>
              <a:t>Claude Code, Skills e RAG</a:t>
            </a:r>
          </a:p>
          <a:p>
            <a:r>
              <a:t>RODRIGO DO CARMO</a:t>
            </a:r>
          </a:p>
          <a:p>
            <a:r>
              <a:t>Claude Code: curso completo para iniciantes</a:t>
            </a:r>
          </a:p>
          <a:p>
            <a:r>
              <a:t>Contexto, Skills, MCP e subagentes · 1h27</a:t>
            </a:r>
          </a:p>
          <a:p>
            <a:r>
              <a:t>DEBORAH FOLLONI</a:t>
            </a:r>
          </a:p>
          <a:p>
            <a:r>
              <a:t>Vibe Coding não funciona (novo workflow)</a:t>
            </a:r>
          </a:p>
          <a:p>
            <a:r>
              <a:t>Especificar, planejar e dividir tarefas</a:t>
            </a:r>
          </a:p>
          <a:p>
            <a:r>
              <a:t>FULL CYCLE</a:t>
            </a:r>
          </a:p>
          <a:p>
            <a:r>
              <a:t>Claude Code: guia completo</a:t>
            </a:r>
          </a:p>
          <a:p>
            <a:r>
              <a:t>O que todo dev precisa saber</a:t>
            </a:r>
          </a:p>
          <a:p>
            <a:r>
              <a:t>DEBORAH FOLLONI</a:t>
            </a:r>
          </a:p>
          <a:p>
            <a:r>
              <a:t>Agora eu só uso Skills</a:t>
            </a:r>
          </a:p>
          <a:p>
            <a:r>
              <a:t>Por que Skills substituem agentes soltos</a:t>
            </a:r>
          </a:p>
          <a:p>
            <a:r>
              <a:t>DEBORAH FOLLONI</a:t>
            </a:r>
          </a:p>
          <a:p>
            <a:r>
              <a:t>Como eu uso o Claude Code (anti-vibe coding)</a:t>
            </a:r>
          </a:p>
          <a:p>
            <a:r>
              <a:t>O workflow dela, passo a passo</a:t>
            </a:r>
          </a:p>
          <a:p>
            <a:r>
              <a:t>Use em: transformar entregas recorrentes em Skills e protótipos para o cliente.</a:t>
            </a:r>
          </a:p>
          <a:p>
            <a:r>
              <a:t>3</a:t>
            </a:r>
          </a:p>
          <a:p>
            <a:r>
              <a:t>Nível 3 · Orquestrar</a:t>
            </a:r>
          </a:p>
          <a:p>
            <a:r>
              <a:t>Agentes em produção</a:t>
            </a:r>
          </a:p>
          <a:p>
            <a:r>
              <a:t>FABIO AKITA</a:t>
            </a:r>
          </a:p>
          <a:p>
            <a:r>
              <a:t>Minha experiência com Agile Vibe Coding</a:t>
            </a:r>
          </a:p>
          <a:p>
            <a:r>
              <a:t>37 dias com agentes em produção · 58 min</a:t>
            </a:r>
          </a:p>
          <a:p>
            <a:r>
              <a:t>FULL CYCLE</a:t>
            </a:r>
          </a:p>
          <a:p>
            <a:r>
              <a:t>Criando agentes de IA com LangChain</a:t>
            </a:r>
          </a:p>
          <a:p>
            <a:r>
              <a:t>Chains, ferramentas e agentes ReAct</a:t>
            </a:r>
          </a:p>
          <a:p>
            <a:r>
              <a:t>FULL CYCLE</a:t>
            </a:r>
          </a:p>
          <a:p>
            <a:r>
              <a:t>Subagentes no Claude Code na prática</a:t>
            </a:r>
          </a:p>
          <a:p>
            <a:r>
              <a:t>Raio-X de arquitetura e dependências</a:t>
            </a:r>
          </a:p>
          <a:p>
            <a:r>
              <a:t>FULL CYCLE</a:t>
            </a:r>
          </a:p>
          <a:p>
            <a:r>
              <a:t>Agentes na prática: analisa logs e abre issues</a:t>
            </a:r>
          </a:p>
          <a:p>
            <a:r>
              <a:t>Agente com ferramentas reais</a:t>
            </a:r>
          </a:p>
          <a:p>
            <a:r>
              <a:t>DEBORAH FOLLONI</a:t>
            </a:r>
          </a:p>
          <a:p>
            <a:r>
              <a:t>O dev que criou a Skill mais baixada do Claude Code</a:t>
            </a:r>
          </a:p>
          <a:p>
            <a:r>
              <a:t>Como uma Skill de verdade é construída</a:t>
            </a:r>
          </a:p>
          <a:p>
            <a:r>
              <a:t>Use em: engenharia reversa de sistemas, modernização e agentes internos.</a:t>
            </a:r>
          </a:p>
          <a:p>
            <a:r>
              <a:t>4</a:t>
            </a:r>
          </a:p>
          <a:p>
            <a:r>
              <a:t>Nível 4 · Consultoria</a:t>
            </a:r>
          </a:p>
          <a:p>
            <a:r>
              <a:t>PMO, processos e sistemas</a:t>
            </a:r>
          </a:p>
          <a:p>
            <a:r>
              <a:t>MÁRIO TRENTIM</a:t>
            </a:r>
          </a:p>
          <a:p>
            <a:r>
              <a:t>Workshop: gestão de projetos usando IA</a:t>
            </a:r>
          </a:p>
          <a:p>
            <a:r>
              <a:t>Escopo, riscos e cronograma com IA</a:t>
            </a:r>
          </a:p>
          <a:p>
            <a:r>
              <a:t>CURSO EM VÍDEO</a:t>
            </a:r>
          </a:p>
          <a:p>
            <a:r>
              <a:t>Planejamento e gestão de projetos com IA</a:t>
            </a:r>
          </a:p>
          <a:p>
            <a:r>
              <a:t>PMO operacional apoiado por IA</a:t>
            </a:r>
          </a:p>
          <a:p>
            <a:r>
              <a:t>HASHTAG PROGRAMAÇÃO</a:t>
            </a:r>
          </a:p>
          <a:p>
            <a:r>
              <a:t>Agente de IA com RAG (LangChain)</a:t>
            </a:r>
          </a:p>
          <a:p>
            <a:r>
              <a:t>Consultar contratos e PDFs: base para due diligence</a:t>
            </a:r>
          </a:p>
          <a:p>
            <a:r>
              <a:t>AFONSO LOPES</a:t>
            </a:r>
          </a:p>
          <a:p>
            <a:r>
              <a:t>Agentes e automação para empresas (canal)</a:t>
            </a:r>
          </a:p>
          <a:p>
            <a:r>
              <a:t>Levantamento, proposta e implantação no cliente</a:t>
            </a:r>
          </a:p>
          <a:p>
            <a:r>
              <a:t>MÁRIO TRENTIM</a:t>
            </a:r>
          </a:p>
          <a:p>
            <a:r>
              <a:t>Gestão de projetos &amp; tecnologia (canal)</a:t>
            </a:r>
          </a:p>
          <a:p>
            <a:r>
              <a:t>Riscos, cronograma e PMO com IA</a:t>
            </a:r>
          </a:p>
          <a:p>
            <a:r>
              <a:t>Use em: PMO, relatórios de status, riscos, processos e diligências.</a:t>
            </a:r>
          </a:p>
          <a:p>
            <a:r>
              <a:t>Aleatório</a:t>
            </a:r>
          </a:p>
          <a:p>
            <a:r>
              <a:t>DESIGN</a:t>
            </a:r>
          </a:p>
          <a:p>
            <a:r>
              <a:t>SISTEMAS</a:t>
            </a:r>
          </a:p>
          <a:p>
            <a:r>
              <a:t>JOGOS</a:t>
            </a:r>
          </a:p>
          <a:p>
            <a:r>
              <a:t>DADOS</a:t>
            </a:r>
          </a:p>
          <a:p>
            <a:r>
              <a:t>AUTOMAÇÃO</a:t>
            </a:r>
          </a:p>
          <a:p>
            <a:r>
              <a:t>▶ Figma: aulão gratuito + protótipo interativo</a:t>
            </a:r>
          </a:p>
          <a:p>
            <a:r>
              <a:t>Categoria Design · role de novo para outra sugestão</a:t>
            </a:r>
          </a:p>
          <a:p>
            <a:r>
              <a:t>Curadoria: vídeos gratuitos em PT-BR no YouTube · links verificados em out/2026</a:t>
            </a:r>
          </a:p>
          <a:p>
            <a:r>
              <a:t>5/6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 este slide: Página 07 do caderno, o Retrato Falado. Cada caricatura foi gerada a partir do prompt que a pessoa escreveu, mantendo traços, cena e piadas, num estilo único e com o dress code A&amp;M. Quem não marcou o retratado foi identificado pelas pistas do texto: certeza, provável ou palpite. Clique em uma caricatura para ver o prompt original. Os autores dos prompts não são identificados.</a:t>
            </a:r>
          </a:p>
          <a:p/>
          <a:p>
            <a:r>
              <a:t>— Conteúdo —</a:t>
            </a:r>
          </a:p>
          <a:p>
            <a:r>
              <a:t>ALVAREZ &amp; MARSAL</a:t>
            </a:r>
          </a:p>
          <a:p>
            <a:r>
              <a:t>DTS · NIVELAMENTO IA</a:t>
            </a:r>
          </a:p>
          <a:p>
            <a:r>
              <a:t>MURAL DO RETRATO FALADO</a:t>
            </a:r>
          </a:p>
          <a:p>
            <a:r>
              <a:t>Bônus · Página 07 do caderno</a:t>
            </a:r>
          </a:p>
          <a:p>
            <a:r>
              <a:t>Diagnóstico IA · DTS</a:t>
            </a:r>
          </a:p>
          <a:p>
            <a:r>
              <a:t>6/6</a:t>
            </a:r>
          </a:p>
          <a:p>
            <a:r>
              <a:t>RETRATO FALADO DTS · UM PROMPT, UMA CARICATURA</a:t>
            </a:r>
          </a:p>
          <a:p>
            <a:r>
              <a:t>Clique no card: caricatura → prompt → rosto original</a:t>
            </a:r>
          </a:p>
          <a:p>
            <a:r>
              <a:t>CARICATURA</a:t>
            </a:r>
          </a:p>
          <a:p>
            <a:r>
              <a:t>Ana Paula Costa</a:t>
            </a:r>
          </a:p>
          <a:p>
            <a:r>
              <a:t>“Slide 47? Aprovado! Próximo deck, por favor”</a:t>
            </a:r>
          </a:p>
          <a:p>
            <a:r>
              <a:t>CERTEZA</a:t>
            </a:r>
          </a:p>
          <a:p>
            <a:r>
              <a:t>CARICATURA</a:t>
            </a:r>
          </a:p>
          <a:p>
            <a:r>
              <a:t>Ana Paula Costa</a:t>
            </a:r>
          </a:p>
          <a:p>
            <a:r>
              <a:t>“O cabelo já abriu a reunião. Ela chega já já.”</a:t>
            </a:r>
          </a:p>
          <a:p>
            <a:r>
              <a:t>CARICATURA</a:t>
            </a:r>
          </a:p>
          <a:p>
            <a:r>
              <a:t>Ana Paula Costa</a:t>
            </a:r>
          </a:p>
          <a:p>
            <a:r>
              <a:t>“Volume no cabelo e no deck: 150 slides ao vento!”</a:t>
            </a:r>
          </a:p>
          <a:p>
            <a:r>
              <a:t>PROVÁVEL</a:t>
            </a:r>
          </a:p>
          <a:p>
            <a:r>
              <a:t>CARICATURA</a:t>
            </a:r>
          </a:p>
          <a:p>
            <a:r>
              <a:t>Ana Paula Costa</a:t>
            </a:r>
          </a:p>
          <a:p>
            <a:r>
              <a:t>“Pode desligar os softboxes: o sorriso dela já ilumina!”</a:t>
            </a:r>
          </a:p>
          <a:p>
            <a:r>
              <a:t>CARICATURA</a:t>
            </a:r>
          </a:p>
          <a:p>
            <a:r>
              <a:t>Guilherme Antonialli</a:t>
            </a:r>
          </a:p>
          <a:p>
            <a:r>
              <a:t>“O executivo de bochechas mais simpáticas da firma”</a:t>
            </a:r>
          </a:p>
          <a:p>
            <a:r>
              <a:t>CARICATURA</a:t>
            </a:r>
          </a:p>
          <a:p>
            <a:r>
              <a:t>Guilherme Antonialli</a:t>
            </a:r>
          </a:p>
          <a:p>
            <a:r>
              <a:t>“Tal dono, tal lulu: topete de galã é de família”</a:t>
            </a:r>
          </a:p>
          <a:p>
            <a:r>
              <a:t>PALPITE</a:t>
            </a:r>
          </a:p>
          <a:p>
            <a:r>
              <a:t>CARICATURA</a:t>
            </a:r>
          </a:p>
          <a:p>
            <a:r>
              <a:t>Guilherme Antonialli</a:t>
            </a:r>
          </a:p>
          <a:p>
            <a:r>
              <a:t>“Cada sobrancelha já tem opinião própria na call”</a:t>
            </a:r>
          </a:p>
          <a:p>
            <a:r>
              <a:t>PALPITE</a:t>
            </a:r>
          </a:p>
          <a:p>
            <a:r>
              <a:t>CARICATURA</a:t>
            </a:r>
          </a:p>
          <a:p>
            <a:r>
              <a:t>Guilherme Antonialli</a:t>
            </a:r>
          </a:p>
          <a:p>
            <a:r>
              <a:t>“Simetria tão perfeita que o PowerPoint usa de guia”</a:t>
            </a:r>
          </a:p>
          <a:p>
            <a:r>
              <a:t>CARICATURA</a:t>
            </a:r>
          </a:p>
          <a:p>
            <a:r>
              <a:t>Thiago Vieira</a:t>
            </a:r>
          </a:p>
          <a:p>
            <a:r>
              <a:t>“Óculos, barba alinhada e sorriso de quem já resolveu tudo”</a:t>
            </a:r>
          </a:p>
          <a:p>
            <a:r>
              <a:t>PROVÁVEL</a:t>
            </a:r>
          </a:p>
          <a:p>
            <a:r>
              <a:t>CARICATURA</a:t>
            </a:r>
          </a:p>
          <a:p>
            <a:r>
              <a:t>Thiago Vieira</a:t>
            </a:r>
          </a:p>
          <a:p>
            <a:r>
              <a:t>“O sorriso entrou na call. Ele tá chegando!”</a:t>
            </a:r>
          </a:p>
          <a:p>
            <a:r>
              <a:t>CARICATURA</a:t>
            </a:r>
          </a:p>
          <a:p>
            <a:r>
              <a:t>Thiago Vieira</a:t>
            </a:r>
          </a:p>
          <a:p>
            <a:r>
              <a:t>“Ele não apresenta ideias: ele salva o trimestre”</a:t>
            </a:r>
          </a:p>
          <a:p>
            <a:r>
              <a:t>CARICATURA</a:t>
            </a:r>
          </a:p>
          <a:p>
            <a:r>
              <a:t>Marcos Massao</a:t>
            </a:r>
          </a:p>
          <a:p>
            <a:r>
              <a:t>“Topete grisalho nível consultor sênior”</a:t>
            </a:r>
          </a:p>
          <a:p>
            <a:r>
              <a:t>CARICATURA</a:t>
            </a:r>
          </a:p>
          <a:p>
            <a:r>
              <a:t>Marcos Massao</a:t>
            </a:r>
          </a:p>
          <a:p>
            <a:r>
              <a:t>“A curva de adoção da mudança? Meu topete.”</a:t>
            </a:r>
          </a:p>
          <a:p>
            <a:r>
              <a:t>CERTEZA</a:t>
            </a:r>
          </a:p>
          <a:p>
            <a:r>
              <a:t>CARICATURA</a:t>
            </a:r>
          </a:p>
          <a:p>
            <a:r>
              <a:t>Marcos Massao</a:t>
            </a:r>
          </a:p>
          <a:p>
            <a:r>
              <a:t>“Topete multitarefa: aguenta café, Excel e status report”</a:t>
            </a:r>
          </a:p>
          <a:p>
            <a:r>
              <a:t>CARICATURA</a:t>
            </a:r>
          </a:p>
          <a:p>
            <a:r>
              <a:t>João Lopes</a:t>
            </a:r>
          </a:p>
          <a:p>
            <a:r>
              <a:t>“João no agudo e a careca iluminando o Tio Sam”</a:t>
            </a:r>
          </a:p>
          <a:p>
            <a:r>
              <a:t>CARICATURA</a:t>
            </a:r>
          </a:p>
          <a:p>
            <a:r>
              <a:t>João Lopes</a:t>
            </a:r>
          </a:p>
          <a:p>
            <a:r>
              <a:t>“Disponível! Brilhando mais que o kick-off”</a:t>
            </a:r>
          </a:p>
          <a:p>
            <a:r>
              <a:t>CARICATURA</a:t>
            </a:r>
          </a:p>
          <a:p>
            <a:r>
              <a:t>João Lopes</a:t>
            </a:r>
          </a:p>
          <a:p>
            <a:r>
              <a:t>“Prazo nenhum para nessa careca: escorrega tudo”</a:t>
            </a:r>
          </a:p>
          <a:p>
            <a:r>
              <a:t>PROVÁVEL</a:t>
            </a:r>
          </a:p>
          <a:p>
            <a:r>
              <a:t>CARICATURA</a:t>
            </a:r>
          </a:p>
          <a:p>
            <a:r>
              <a:t>Talita Galvão</a:t>
            </a:r>
          </a:p>
          <a:p>
            <a:r>
              <a:t>“Achei o erro na célula B47. De nada.”</a:t>
            </a:r>
          </a:p>
          <a:p>
            <a:r>
              <a:t>CARICATURA</a:t>
            </a:r>
          </a:p>
          <a:p>
            <a:r>
              <a:t>Talita Galvão</a:t>
            </a:r>
          </a:p>
          <a:p>
            <a:r>
              <a:t>“Câmera ligada e sorriso no slide 1 de 147”</a:t>
            </a:r>
          </a:p>
          <a:p>
            <a:r>
              <a:t>CERTEZA</a:t>
            </a:r>
          </a:p>
          <a:p>
            <a:r>
              <a:t>CARICATURA</a:t>
            </a:r>
          </a:p>
          <a:p>
            <a:r>
              <a:t>Laís Velame</a:t>
            </a:r>
          </a:p>
          <a:p>
            <a:r>
              <a:t>“Sumiu a caneta? Procura nos cachos da DTS”</a:t>
            </a:r>
          </a:p>
          <a:p>
            <a:r>
              <a:t>CERTEZA</a:t>
            </a:r>
          </a:p>
          <a:p>
            <a:r>
              <a:t>CARICATURA</a:t>
            </a:r>
          </a:p>
          <a:p>
            <a:r>
              <a:t>Victor Vitorino</a:t>
            </a:r>
          </a:p>
          <a:p>
            <a:r>
              <a:t>“Cara de pôquer, careca de pista de patinação.”</a:t>
            </a:r>
          </a:p>
          <a:p>
            <a:r>
              <a:t>PALPITE</a:t>
            </a:r>
          </a:p>
          <a:p>
            <a:r>
              <a:t>CARICATURA</a:t>
            </a:r>
          </a:p>
          <a:p>
            <a:r>
              <a:t>Alexandre Domingues</a:t>
            </a:r>
          </a:p>
          <a:p>
            <a:r>
              <a:t>“Kick-off às 8h: o café chegou antes dele!”</a:t>
            </a:r>
          </a:p>
          <a:p>
            <a:r>
              <a:t>NÃO IDENTIFICADO</a:t>
            </a:r>
          </a:p>
          <a:p>
            <a:r>
              <a:t>CARICATURA</a:t>
            </a:r>
          </a:p>
          <a:p>
            <a:r>
              <a:t>Colega misterioso</a:t>
            </a:r>
          </a:p>
          <a:p>
            <a:r>
              <a:t>“Sim, senhor Claude! Missão do dia recebida!”</a:t>
            </a:r>
          </a:p>
          <a:p>
            <a:r>
              <a:t>23</a:t>
            </a:r>
          </a:p>
          <a:p>
            <a:r>
              <a:t>prompts viraram caricatura</a:t>
            </a:r>
          </a:p>
          <a:p>
            <a:r>
              <a:t>Fonte: prompts da página 07 do caderno · caricaturas geradas por IA a partir de cada prompt, no mesmo estilo</a:t>
            </a:r>
          </a:p>
          <a:p>
            <a:r>
              <a:t>6/6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www.youtube.com/watch?v=1VDcke66TRE" TargetMode="External"/><Relationship Id="rId4" Type="http://schemas.openxmlformats.org/officeDocument/2006/relationships/hyperlink" Target="https://www.youtube.com/watch?v=M0buLwTSHq0" TargetMode="External"/><Relationship Id="rId5" Type="http://schemas.openxmlformats.org/officeDocument/2006/relationships/hyperlink" Target="https://www.youtube.com/watch?v=pyb3G0z1m7c" TargetMode="External"/><Relationship Id="rId6" Type="http://schemas.openxmlformats.org/officeDocument/2006/relationships/hyperlink" Target="https://www.youtube.com/watch?v=XcY8fJDNyBY" TargetMode="External"/><Relationship Id="rId7" Type="http://schemas.openxmlformats.org/officeDocument/2006/relationships/hyperlink" Target="https://www.youtube.com/watch?v=561e_hRXci8" TargetMode="External"/><Relationship Id="rId8" Type="http://schemas.openxmlformats.org/officeDocument/2006/relationships/hyperlink" Target="https://www.youtube.com/watch?v=I5RLz75eKU4" TargetMode="External"/><Relationship Id="rId9" Type="http://schemas.openxmlformats.org/officeDocument/2006/relationships/hyperlink" Target="https://www.youtube.com/watch?v=Ea5yaWGqoHQ" TargetMode="External"/><Relationship Id="rId10" Type="http://schemas.openxmlformats.org/officeDocument/2006/relationships/hyperlink" Target="https://www.youtube.com/watch?v=NH_NtrN2BEs" TargetMode="External"/><Relationship Id="rId11" Type="http://schemas.openxmlformats.org/officeDocument/2006/relationships/hyperlink" Target="https://www.youtube.com/watch?v=h_l8wCr7M2Q" TargetMode="External"/><Relationship Id="rId12" Type="http://schemas.openxmlformats.org/officeDocument/2006/relationships/hyperlink" Target="https://www.youtube.com/watch?v=BcLtqQ3JlMU" TargetMode="External"/><Relationship Id="rId13" Type="http://schemas.openxmlformats.org/officeDocument/2006/relationships/hyperlink" Target="https://www.youtube.com/watch?v=U3bZavG8qQY" TargetMode="External"/><Relationship Id="rId14" Type="http://schemas.openxmlformats.org/officeDocument/2006/relationships/hyperlink" Target="https://www.youtube.com/watch?v=jnEmWGmXx8Y" TargetMode="External"/><Relationship Id="rId15" Type="http://schemas.openxmlformats.org/officeDocument/2006/relationships/hyperlink" Target="https://www.youtube.com/watch?v=YtFNz1DtDdo" TargetMode="External"/><Relationship Id="rId16" Type="http://schemas.openxmlformats.org/officeDocument/2006/relationships/hyperlink" Target="https://www.youtube.com/watch?v=hnTX9W0YGAE" TargetMode="External"/><Relationship Id="rId17" Type="http://schemas.openxmlformats.org/officeDocument/2006/relationships/hyperlink" Target="https://www.youtube.com/watch?v=rQ61RGI3DFk" TargetMode="External"/><Relationship Id="rId18" Type="http://schemas.openxmlformats.org/officeDocument/2006/relationships/hyperlink" Target="https://www.youtube.com/watch?v=9648l3d4HFc" TargetMode="External"/><Relationship Id="rId19" Type="http://schemas.openxmlformats.org/officeDocument/2006/relationships/hyperlink" Target="https://www.youtube.com/watch?v=YGa4elddiug" TargetMode="External"/><Relationship Id="rId20" Type="http://schemas.openxmlformats.org/officeDocument/2006/relationships/hyperlink" Target="https://www.youtube.com/watch?v=0M8iO5ykY-E" TargetMode="External"/><Relationship Id="rId21" Type="http://schemas.openxmlformats.org/officeDocument/2006/relationships/hyperlink" Target="https://www.youtube.com/@afonsoautomacoes_ia/videos" TargetMode="External"/><Relationship Id="rId22" Type="http://schemas.openxmlformats.org/officeDocument/2006/relationships/hyperlink" Target="https://www.youtube.com/channel/UCW4md7iNrIj46mZuO7RyFGw/videos" TargetMode="External"/><Relationship Id="rId23" Type="http://schemas.openxmlformats.org/officeDocument/2006/relationships/hyperlink" Target="https://www.youtube.com/watch?v=1a8P6Qyie30" TargetMode="External"/><Relationship Id="rId2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312420" y="1866900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312420" y="2393275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312420" y="2919650"/>
            <a:ext cx="2674620" cy="6260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312420" y="3576161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312420" y="4102536"/>
            <a:ext cx="2674620" cy="6260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r:id="rId8"/>
          </p:cNvPr>
          <p:cNvSpPr/>
          <p:nvPr/>
        </p:nvSpPr>
        <p:spPr>
          <a:xfrm>
            <a:off x="3276600" y="1866900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r:id="rId9"/>
          </p:cNvPr>
          <p:cNvSpPr/>
          <p:nvPr/>
        </p:nvSpPr>
        <p:spPr>
          <a:xfrm>
            <a:off x="3276600" y="2393275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r:id="rId10"/>
          </p:cNvPr>
          <p:cNvSpPr/>
          <p:nvPr/>
        </p:nvSpPr>
        <p:spPr>
          <a:xfrm>
            <a:off x="3276600" y="2919650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>
            <a:hlinkClick r:id="rId11"/>
          </p:cNvPr>
          <p:cNvSpPr/>
          <p:nvPr/>
        </p:nvSpPr>
        <p:spPr>
          <a:xfrm>
            <a:off x="3276600" y="3446025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>
            <a:hlinkClick r:id="rId12"/>
          </p:cNvPr>
          <p:cNvSpPr/>
          <p:nvPr/>
        </p:nvSpPr>
        <p:spPr>
          <a:xfrm>
            <a:off x="3276600" y="3972401"/>
            <a:ext cx="2674620" cy="6260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>
            <a:hlinkClick r:id="rId13"/>
          </p:cNvPr>
          <p:cNvSpPr/>
          <p:nvPr/>
        </p:nvSpPr>
        <p:spPr>
          <a:xfrm>
            <a:off x="6240780" y="1866900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>
            <a:hlinkClick r:id="rId14"/>
          </p:cNvPr>
          <p:cNvSpPr/>
          <p:nvPr/>
        </p:nvSpPr>
        <p:spPr>
          <a:xfrm>
            <a:off x="6240780" y="2393275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>
            <a:hlinkClick r:id="rId15"/>
          </p:cNvPr>
          <p:cNvSpPr/>
          <p:nvPr/>
        </p:nvSpPr>
        <p:spPr>
          <a:xfrm>
            <a:off x="6240780" y="2919650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r:id="rId16"/>
          </p:cNvPr>
          <p:cNvSpPr/>
          <p:nvPr/>
        </p:nvSpPr>
        <p:spPr>
          <a:xfrm>
            <a:off x="6240780" y="3446025"/>
            <a:ext cx="2674620" cy="6260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>
            <a:hlinkClick r:id="rId17"/>
          </p:cNvPr>
          <p:cNvSpPr/>
          <p:nvPr/>
        </p:nvSpPr>
        <p:spPr>
          <a:xfrm>
            <a:off x="6240780" y="4102536"/>
            <a:ext cx="2674620" cy="6260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>
            <a:hlinkClick r:id="rId18"/>
          </p:cNvPr>
          <p:cNvSpPr/>
          <p:nvPr/>
        </p:nvSpPr>
        <p:spPr>
          <a:xfrm>
            <a:off x="9204960" y="1866900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>
            <a:hlinkClick r:id="rId19"/>
          </p:cNvPr>
          <p:cNvSpPr/>
          <p:nvPr/>
        </p:nvSpPr>
        <p:spPr>
          <a:xfrm>
            <a:off x="9204960" y="2393275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>
            <a:hlinkClick r:id="rId20"/>
          </p:cNvPr>
          <p:cNvSpPr/>
          <p:nvPr/>
        </p:nvSpPr>
        <p:spPr>
          <a:xfrm>
            <a:off x="9204960" y="2919650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>
            <a:hlinkClick r:id="rId21"/>
          </p:cNvPr>
          <p:cNvSpPr/>
          <p:nvPr/>
        </p:nvSpPr>
        <p:spPr>
          <a:xfrm>
            <a:off x="9204960" y="3446025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r:id="rId22"/>
          </p:cNvPr>
          <p:cNvSpPr/>
          <p:nvPr/>
        </p:nvSpPr>
        <p:spPr>
          <a:xfrm>
            <a:off x="9204960" y="3972401"/>
            <a:ext cx="2674620" cy="4958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>
            <a:hlinkClick r:id="rId23"/>
          </p:cNvPr>
          <p:cNvSpPr/>
          <p:nvPr/>
        </p:nvSpPr>
        <p:spPr>
          <a:xfrm>
            <a:off x="1429464" y="6301740"/>
            <a:ext cx="8476535" cy="152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